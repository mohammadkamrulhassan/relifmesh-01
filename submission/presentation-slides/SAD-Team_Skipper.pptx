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3.xml" ContentType="application/vnd.openxmlformats-officedocument.presentationml.slideMaster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  <p:sldMasterId id="2147483651" r:id="rId2"/>
    <p:sldMasterId id="2147483653" r:id="rId3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1675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86880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72189843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2356432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13775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67761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893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8763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609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917710-B0FB-3BEA-4841-FAF47C11A8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044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468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96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7A7EB8-73C2-320B-EADC-2E83E002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989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0969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4839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BEFEE7-6FC9-488B-6857-A887B82FC3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851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834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0071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B64014-6707-700E-7509-D16BAE9F51A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1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846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5231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2DF199-B824-9BE7-B5DE-85556E0D2E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614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1434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3429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F7DFE-E47B-D689-48A8-66C1E97331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109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6306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7307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DAFEDD-C4DC-0A04-30DE-9E64394CE2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715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89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6790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FEDC2-A392-1AED-B8A4-77388FB53A8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567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7296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7463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CED02F-3395-D8DF-0B86-D31EF0B096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926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2685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90507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8EA548-8BC1-A3F0-2875-D704AA9E56B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14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016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5608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06A308-13C1-3FD9-7A15-2C4505245D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726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661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865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7C2784-AB9E-EE88-3014-1DD16836291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577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30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1639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8AEF43-AF44-12EA-7C27-7D96FF37AD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459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158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2233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5F9854-C1AC-29FD-3D7A-BF04587D8A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865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634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123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AC3949-831C-2DC3-9715-C558C3EC5F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434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043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6743B4-902D-A2C7-3E95-C5324C3C09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4679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783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4780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59D5E1-7E04-DD98-4B74-7F07AFDB30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17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2156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5082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4E0B54-FD35-DF8B-15BA-3B17D4320B3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297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025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10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70A06F-C8F6-606A-582C-F46FE6D18C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3629192" name="Picture 8"/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930" t="0" r="0" b="10778"/>
          <a:stretch/>
        </p:blipFill>
        <p:spPr bwMode="auto">
          <a:xfrm>
            <a:off x="0" y="0"/>
            <a:ext cx="12191999" cy="685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A1E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17340" name="Shape 0"/>
          <p:cNvSpPr/>
          <p:nvPr/>
        </p:nvSpPr>
        <p:spPr bwMode="auto">
          <a:xfrm flipV="1">
            <a:off x="9631679" y="670559"/>
            <a:ext cx="1219199" cy="18288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408318790" name="Shape 1"/>
          <p:cNvSpPr/>
          <p:nvPr/>
        </p:nvSpPr>
        <p:spPr bwMode="auto">
          <a:xfrm>
            <a:off x="10850879" y="670559"/>
            <a:ext cx="548640" cy="85343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92631762" name="Shape 2"/>
          <p:cNvSpPr/>
          <p:nvPr/>
        </p:nvSpPr>
        <p:spPr bwMode="auto">
          <a:xfrm>
            <a:off x="10363199" y="1523999"/>
            <a:ext cx="1036319" cy="365760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654745092" name="Shape 3"/>
          <p:cNvSpPr/>
          <p:nvPr/>
        </p:nvSpPr>
        <p:spPr bwMode="auto">
          <a:xfrm flipV="1">
            <a:off x="9265919" y="1645920"/>
            <a:ext cx="1097280" cy="24383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248552859" name="Shape 4"/>
          <p:cNvSpPr/>
          <p:nvPr/>
        </p:nvSpPr>
        <p:spPr bwMode="auto">
          <a:xfrm flipV="1">
            <a:off x="9265919" y="853439"/>
            <a:ext cx="365760" cy="79247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495072744" name="Shape 5"/>
          <p:cNvSpPr/>
          <p:nvPr/>
        </p:nvSpPr>
        <p:spPr bwMode="auto">
          <a:xfrm>
            <a:off x="9631679" y="853439"/>
            <a:ext cx="548640" cy="42671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557431741" name="Shape 6"/>
          <p:cNvSpPr/>
          <p:nvPr/>
        </p:nvSpPr>
        <p:spPr bwMode="auto">
          <a:xfrm>
            <a:off x="10180319" y="670559"/>
            <a:ext cx="670559" cy="60959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214633924" name="Shape 7"/>
          <p:cNvSpPr/>
          <p:nvPr/>
        </p:nvSpPr>
        <p:spPr bwMode="auto">
          <a:xfrm flipV="1">
            <a:off x="10180319" y="1280160"/>
            <a:ext cx="1219199" cy="24383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00848978" name="Shape 8"/>
          <p:cNvSpPr/>
          <p:nvPr/>
        </p:nvSpPr>
        <p:spPr bwMode="auto">
          <a:xfrm flipV="1">
            <a:off x="10180319" y="1280160"/>
            <a:ext cx="182880" cy="609599"/>
          </a:xfrm>
          <a:prstGeom prst="line">
            <a:avLst/>
          </a:prstGeom>
          <a:noFill/>
          <a:ln w="15875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1308495134" name="Shape 9"/>
          <p:cNvSpPr/>
          <p:nvPr/>
        </p:nvSpPr>
        <p:spPr bwMode="auto">
          <a:xfrm>
            <a:off x="9570718" y="792479"/>
            <a:ext cx="121919" cy="12191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57683688" name="Shape 10"/>
          <p:cNvSpPr/>
          <p:nvPr/>
        </p:nvSpPr>
        <p:spPr bwMode="auto">
          <a:xfrm>
            <a:off x="10789920" y="609599"/>
            <a:ext cx="121919" cy="12191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52118641" name="Shape 11"/>
          <p:cNvSpPr/>
          <p:nvPr/>
        </p:nvSpPr>
        <p:spPr bwMode="auto">
          <a:xfrm>
            <a:off x="11338560" y="1463040"/>
            <a:ext cx="121919" cy="12191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8106062" name="Shape 12"/>
          <p:cNvSpPr/>
          <p:nvPr/>
        </p:nvSpPr>
        <p:spPr bwMode="auto">
          <a:xfrm>
            <a:off x="10302239" y="1828800"/>
            <a:ext cx="121919" cy="12191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45673144" name="Shape 13"/>
          <p:cNvSpPr/>
          <p:nvPr/>
        </p:nvSpPr>
        <p:spPr bwMode="auto">
          <a:xfrm>
            <a:off x="9204959" y="1584959"/>
            <a:ext cx="121919" cy="12191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99832841" name="Shape 14"/>
          <p:cNvSpPr/>
          <p:nvPr/>
        </p:nvSpPr>
        <p:spPr bwMode="auto">
          <a:xfrm>
            <a:off x="10119359" y="1219199"/>
            <a:ext cx="121919" cy="121919"/>
          </a:xfrm>
          <a:prstGeom prst="ellipse">
            <a:avLst/>
          </a:prstGeom>
          <a:solidFill>
            <a:srgbClr val="CFE8F3"/>
          </a:solidFill>
          <a:ln/>
        </p:spPr>
      </p:sp>
      <p:sp>
        <p:nvSpPr>
          <p:cNvPr id="2080677055" name="Text 15"/>
          <p:cNvSpPr/>
          <p:nvPr/>
        </p:nvSpPr>
        <p:spPr bwMode="auto">
          <a:xfrm>
            <a:off x="853439" y="1523999"/>
            <a:ext cx="975359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 spc="199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CSE 3208 — SYSTEM ANALYSIS &amp; DESIGN LAB</a:t>
            </a:r>
            <a:endParaRPr lang="en-US" sz="1400"/>
          </a:p>
        </p:txBody>
      </p:sp>
      <p:sp>
        <p:nvSpPr>
          <p:cNvPr id="1797321379" name="Text 16"/>
          <p:cNvSpPr/>
          <p:nvPr/>
        </p:nvSpPr>
        <p:spPr bwMode="auto">
          <a:xfrm>
            <a:off x="792479" y="1950719"/>
            <a:ext cx="10363199" cy="1341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RelifMesh</a:t>
            </a:r>
            <a:endParaRPr lang="en-US" sz="6000"/>
          </a:p>
        </p:txBody>
      </p:sp>
      <p:sp>
        <p:nvSpPr>
          <p:cNvPr id="1665486819" name="Text 17"/>
          <p:cNvSpPr/>
          <p:nvPr/>
        </p:nvSpPr>
        <p:spPr bwMode="auto">
          <a:xfrm>
            <a:off x="853439" y="3139293"/>
            <a:ext cx="103631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CFE8F3"/>
                </a:solidFill>
                <a:latin typeface="Calibri"/>
                <a:ea typeface="Calibri"/>
                <a:cs typeface="Calibri"/>
              </a:rPr>
              <a:t>Disaster Relief Coordination System</a:t>
            </a:r>
            <a:endParaRPr lang="en-US" sz="2000"/>
          </a:p>
        </p:txBody>
      </p:sp>
      <p:sp>
        <p:nvSpPr>
          <p:cNvPr id="1521784437" name="Text 18"/>
          <p:cNvSpPr/>
          <p:nvPr/>
        </p:nvSpPr>
        <p:spPr bwMode="auto">
          <a:xfrm>
            <a:off x="853439" y="3681632"/>
            <a:ext cx="1036319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9FC6DA"/>
                </a:solidFill>
                <a:latin typeface="Calibri"/>
                <a:ea typeface="Calibri"/>
                <a:cs typeface="Calibri"/>
              </a:rPr>
              <a:t>"One mesh. No duplicates. No household left behind."</a:t>
            </a:r>
            <a:endParaRPr lang="en-US" sz="1300"/>
          </a:p>
        </p:txBody>
      </p:sp>
      <p:sp>
        <p:nvSpPr>
          <p:cNvPr id="755844313" name="Shape 19"/>
          <p:cNvSpPr/>
          <p:nvPr/>
        </p:nvSpPr>
        <p:spPr bwMode="auto">
          <a:xfrm>
            <a:off x="853439" y="5059679"/>
            <a:ext cx="10485118" cy="0"/>
          </a:xfrm>
          <a:prstGeom prst="line">
            <a:avLst/>
          </a:prstGeom>
          <a:noFill/>
          <a:ln w="12700">
            <a:solidFill>
              <a:srgbClr val="2A3E5C"/>
            </a:solidFill>
            <a:prstDash val="solid"/>
          </a:ln>
        </p:spPr>
      </p:sp>
      <p:sp>
        <p:nvSpPr>
          <p:cNvPr id="1760520586" name="Text 21"/>
          <p:cNvSpPr/>
          <p:nvPr/>
        </p:nvSpPr>
        <p:spPr bwMode="auto">
          <a:xfrm>
            <a:off x="853439" y="5705855"/>
            <a:ext cx="10485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FA8BE"/>
                </a:solidFill>
                <a:latin typeface="Calibri"/>
                <a:ea typeface="Calibri"/>
                <a:cs typeface="Calibri"/>
              </a:rPr>
              <a:t>Rangamati Science &amp; Technology University</a:t>
            </a:r>
            <a:endParaRPr lang="en-US" sz="1200"/>
          </a:p>
        </p:txBody>
      </p:sp>
      <p:sp>
        <p:nvSpPr>
          <p:cNvPr id="817891691" name="Text 20"/>
          <p:cNvSpPr/>
          <p:nvPr/>
        </p:nvSpPr>
        <p:spPr bwMode="auto">
          <a:xfrm>
            <a:off x="853439" y="5279135"/>
            <a:ext cx="10485118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CFE8F3"/>
                </a:solidFill>
                <a:latin typeface="Times New Roman"/>
                <a:ea typeface="Times New Roman"/>
                <a:cs typeface="Times New Roman"/>
              </a:rPr>
              <a:t> Supervisor: </a:t>
            </a:r>
            <a:r>
              <a:rPr lang="en-US" sz="1600">
                <a:solidFill>
                  <a:srgbClr val="C9D6E3"/>
                </a:solidFill>
                <a:latin typeface="Times New Roman"/>
                <a:ea typeface="Times New Roman"/>
                <a:cs typeface="Times New Roman"/>
              </a:rPr>
              <a:t>MD Mynoddin, Assistant Professor, Dept. of CSE, RMSTU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30569328" name="TextBox 8"/>
          <p:cNvSpPr txBox="1"/>
          <p:nvPr/>
        </p:nvSpPr>
        <p:spPr bwMode="auto">
          <a:xfrm flipH="0" flipV="0">
            <a:off x="914421" y="4136425"/>
            <a:ext cx="8001541" cy="73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Team: Team_Skipper</a:t>
            </a:r>
            <a:endParaRPr sz="1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2101011001 - Abidul Islam</a:t>
            </a:r>
            <a:r>
              <a:rPr lang="en-US" sz="1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2101011005 - MD. Kamrul Hassan </a:t>
            </a:r>
            <a:endParaRPr sz="14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2101011013 - Sayeda Mofatteha Ahmed, </a:t>
            </a:r>
            <a:r>
              <a:rPr lang="en-US" sz="1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2101011038 - Iftekhar Alam Nahid</a:t>
            </a:r>
            <a:endParaRPr sz="14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512912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476031837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1800"/>
          </a:p>
        </p:txBody>
      </p:sp>
      <p:sp>
        <p:nvSpPr>
          <p:cNvPr id="771906957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Introduction &amp; Problem Statement</a:t>
            </a:r>
            <a:endParaRPr lang="en-US" sz="2600"/>
          </a:p>
        </p:txBody>
      </p:sp>
      <p:sp>
        <p:nvSpPr>
          <p:cNvPr id="865021917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Disaster relief coordination for Union Parishads in flood-prone Bangladesh</a:t>
            </a:r>
            <a:endParaRPr lang="en-US" sz="1400"/>
          </a:p>
        </p:txBody>
      </p:sp>
      <p:sp>
        <p:nvSpPr>
          <p:cNvPr id="269748799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792065219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000"/>
          </a:p>
        </p:txBody>
      </p:sp>
      <p:sp>
        <p:nvSpPr>
          <p:cNvPr id="1159493932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188952869" name="Text 7"/>
          <p:cNvSpPr/>
          <p:nvPr/>
        </p:nvSpPr>
        <p:spPr bwMode="auto">
          <a:xfrm>
            <a:off x="609599" y="1584959"/>
            <a:ext cx="10972800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RelifMesh coordinates relief distribution across Union Parishad officials, NGOs, Upazila officers, and citizens in real time. </a:t>
            </a:r>
            <a:r>
              <a:rPr lang="en-US" sz="16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August 2024 floods affected 4.5–5.8M people; 92% of mobile towers in Feni went down</a:t>
            </a:r>
            <a:r>
              <a:rPr lang="en-US" sz="16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 — cloud-only tools fail exactly when they're needed most.</a:t>
            </a:r>
            <a:endParaRPr lang="en-US" sz="1600"/>
          </a:p>
        </p:txBody>
      </p:sp>
      <p:sp>
        <p:nvSpPr>
          <p:cNvPr id="1169688832" name="Shape 8"/>
          <p:cNvSpPr/>
          <p:nvPr/>
        </p:nvSpPr>
        <p:spPr bwMode="auto">
          <a:xfrm>
            <a:off x="609599" y="2621279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397675056" name="Text 9"/>
          <p:cNvSpPr/>
          <p:nvPr/>
        </p:nvSpPr>
        <p:spPr bwMode="auto">
          <a:xfrm>
            <a:off x="731520" y="2718815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600"/>
          </a:p>
        </p:txBody>
      </p:sp>
      <p:sp>
        <p:nvSpPr>
          <p:cNvPr id="1846573262" name="Text 10"/>
          <p:cNvSpPr/>
          <p:nvPr/>
        </p:nvSpPr>
        <p:spPr bwMode="auto">
          <a:xfrm>
            <a:off x="731520" y="3108959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Duplicate Aid</a:t>
            </a:r>
            <a:endParaRPr lang="en-US" sz="1400"/>
          </a:p>
        </p:txBody>
      </p:sp>
      <p:sp>
        <p:nvSpPr>
          <p:cNvPr id="250546648" name="Text 11"/>
          <p:cNvSpPr/>
          <p:nvPr/>
        </p:nvSpPr>
        <p:spPr bwMode="auto">
          <a:xfrm>
            <a:off x="731520" y="3621024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Same household served multiple times by different agencies</a:t>
            </a:r>
            <a:endParaRPr lang="en-US" sz="1100"/>
          </a:p>
        </p:txBody>
      </p:sp>
      <p:sp>
        <p:nvSpPr>
          <p:cNvPr id="434774329" name="Shape 12"/>
          <p:cNvSpPr/>
          <p:nvPr/>
        </p:nvSpPr>
        <p:spPr bwMode="auto">
          <a:xfrm>
            <a:off x="3377183" y="2621279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327355841" name="Text 13"/>
          <p:cNvSpPr/>
          <p:nvPr/>
        </p:nvSpPr>
        <p:spPr bwMode="auto">
          <a:xfrm>
            <a:off x="3499103" y="2718815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600"/>
          </a:p>
        </p:txBody>
      </p:sp>
      <p:sp>
        <p:nvSpPr>
          <p:cNvPr id="1060359878" name="Text 14"/>
          <p:cNvSpPr/>
          <p:nvPr/>
        </p:nvSpPr>
        <p:spPr bwMode="auto">
          <a:xfrm>
            <a:off x="3499103" y="3108959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Missed Households</a:t>
            </a:r>
            <a:endParaRPr lang="en-US" sz="1400"/>
          </a:p>
        </p:txBody>
      </p:sp>
      <p:sp>
        <p:nvSpPr>
          <p:cNvPr id="1690053963" name="Text 15"/>
          <p:cNvSpPr/>
          <p:nvPr/>
        </p:nvSpPr>
        <p:spPr bwMode="auto">
          <a:xfrm>
            <a:off x="3499103" y="3621024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Vulnerable families skipped with no audit trail</a:t>
            </a:r>
            <a:endParaRPr lang="en-US" sz="1100"/>
          </a:p>
        </p:txBody>
      </p:sp>
      <p:sp>
        <p:nvSpPr>
          <p:cNvPr id="2038946021" name="Shape 16"/>
          <p:cNvSpPr/>
          <p:nvPr/>
        </p:nvSpPr>
        <p:spPr bwMode="auto">
          <a:xfrm>
            <a:off x="6144768" y="2621279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499793174" name="Text 17"/>
          <p:cNvSpPr/>
          <p:nvPr/>
        </p:nvSpPr>
        <p:spPr bwMode="auto">
          <a:xfrm>
            <a:off x="6266687" y="2718815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600"/>
          </a:p>
        </p:txBody>
      </p:sp>
      <p:sp>
        <p:nvSpPr>
          <p:cNvPr id="320574373" name="Text 18"/>
          <p:cNvSpPr/>
          <p:nvPr/>
        </p:nvSpPr>
        <p:spPr bwMode="auto">
          <a:xfrm>
            <a:off x="6266687" y="3108959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No Real-Time Tracking</a:t>
            </a:r>
            <a:endParaRPr lang="en-US" sz="1400"/>
          </a:p>
        </p:txBody>
      </p:sp>
      <p:sp>
        <p:nvSpPr>
          <p:cNvPr id="6544233" name="Text 19"/>
          <p:cNvSpPr/>
          <p:nvPr/>
        </p:nvSpPr>
        <p:spPr bwMode="auto">
          <a:xfrm>
            <a:off x="6266687" y="3621024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Paper-based logs; days of consolidation delay</a:t>
            </a:r>
            <a:endParaRPr lang="en-US" sz="1100"/>
          </a:p>
        </p:txBody>
      </p:sp>
      <p:sp>
        <p:nvSpPr>
          <p:cNvPr id="1856629681" name="Shape 20"/>
          <p:cNvSpPr/>
          <p:nvPr/>
        </p:nvSpPr>
        <p:spPr bwMode="auto">
          <a:xfrm>
            <a:off x="8912351" y="2621279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836516858" name="Text 21"/>
          <p:cNvSpPr/>
          <p:nvPr/>
        </p:nvSpPr>
        <p:spPr bwMode="auto">
          <a:xfrm>
            <a:off x="9034272" y="2718815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600"/>
          </a:p>
        </p:txBody>
      </p:sp>
      <p:sp>
        <p:nvSpPr>
          <p:cNvPr id="1893750396" name="Text 22"/>
          <p:cNvSpPr/>
          <p:nvPr/>
        </p:nvSpPr>
        <p:spPr bwMode="auto">
          <a:xfrm>
            <a:off x="9034272" y="3108959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Inter-Agency Opacity</a:t>
            </a:r>
            <a:endParaRPr lang="en-US" sz="1400"/>
          </a:p>
        </p:txBody>
      </p:sp>
      <p:sp>
        <p:nvSpPr>
          <p:cNvPr id="1578995120" name="Text 23"/>
          <p:cNvSpPr/>
          <p:nvPr/>
        </p:nvSpPr>
        <p:spPr bwMode="auto">
          <a:xfrm>
            <a:off x="9034272" y="3621024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NGOs, government &amp; volunteers operate independently</a:t>
            </a:r>
            <a:endParaRPr lang="en-US" sz="1100"/>
          </a:p>
        </p:txBody>
      </p:sp>
      <p:sp>
        <p:nvSpPr>
          <p:cNvPr id="141168671" name="Shape 24"/>
          <p:cNvSpPr/>
          <p:nvPr/>
        </p:nvSpPr>
        <p:spPr bwMode="auto">
          <a:xfrm>
            <a:off x="609599" y="4681728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829331009" name="Text 25"/>
          <p:cNvSpPr/>
          <p:nvPr/>
        </p:nvSpPr>
        <p:spPr bwMode="auto">
          <a:xfrm>
            <a:off x="731520" y="4779263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600"/>
          </a:p>
        </p:txBody>
      </p:sp>
      <p:sp>
        <p:nvSpPr>
          <p:cNvPr id="2101555337" name="Text 26"/>
          <p:cNvSpPr/>
          <p:nvPr/>
        </p:nvSpPr>
        <p:spPr bwMode="auto">
          <a:xfrm>
            <a:off x="731520" y="5169407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Offline Environments</a:t>
            </a:r>
            <a:endParaRPr lang="en-US" sz="1400"/>
          </a:p>
        </p:txBody>
      </p:sp>
      <p:sp>
        <p:nvSpPr>
          <p:cNvPr id="533564942" name="Text 27"/>
          <p:cNvSpPr/>
          <p:nvPr/>
        </p:nvSpPr>
        <p:spPr bwMode="auto">
          <a:xfrm>
            <a:off x="731520" y="5681471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92% mobile towers failed in Feni 2024 floods</a:t>
            </a:r>
            <a:endParaRPr lang="en-US" sz="1100"/>
          </a:p>
        </p:txBody>
      </p:sp>
      <p:sp>
        <p:nvSpPr>
          <p:cNvPr id="1353072507" name="Shape 28"/>
          <p:cNvSpPr/>
          <p:nvPr/>
        </p:nvSpPr>
        <p:spPr bwMode="auto">
          <a:xfrm>
            <a:off x="3377183" y="4681728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299759977" name="Text 29"/>
          <p:cNvSpPr/>
          <p:nvPr/>
        </p:nvSpPr>
        <p:spPr bwMode="auto">
          <a:xfrm>
            <a:off x="3499103" y="4779263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600"/>
          </a:p>
        </p:txBody>
      </p:sp>
      <p:sp>
        <p:nvSpPr>
          <p:cNvPr id="331619064" name="Text 30"/>
          <p:cNvSpPr/>
          <p:nvPr/>
        </p:nvSpPr>
        <p:spPr bwMode="auto">
          <a:xfrm>
            <a:off x="3499103" y="5169407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No Visibility</a:t>
            </a:r>
            <a:endParaRPr lang="en-US" sz="1400"/>
          </a:p>
        </p:txBody>
      </p:sp>
      <p:sp>
        <p:nvSpPr>
          <p:cNvPr id="763752736" name="Text 31"/>
          <p:cNvSpPr/>
          <p:nvPr/>
        </p:nvSpPr>
        <p:spPr bwMode="auto">
          <a:xfrm>
            <a:off x="3499103" y="5681471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Nobody can see which areas still need relief</a:t>
            </a:r>
            <a:endParaRPr lang="en-US" sz="1100"/>
          </a:p>
        </p:txBody>
      </p:sp>
      <p:sp>
        <p:nvSpPr>
          <p:cNvPr id="1639649621" name="Shape 32"/>
          <p:cNvSpPr/>
          <p:nvPr/>
        </p:nvSpPr>
        <p:spPr bwMode="auto">
          <a:xfrm>
            <a:off x="6144768" y="4681728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49802331" name="Text 33"/>
          <p:cNvSpPr/>
          <p:nvPr/>
        </p:nvSpPr>
        <p:spPr bwMode="auto">
          <a:xfrm>
            <a:off x="6266687" y="4779263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7</a:t>
            </a:r>
            <a:endParaRPr lang="en-US" sz="1600"/>
          </a:p>
        </p:txBody>
      </p:sp>
      <p:sp>
        <p:nvSpPr>
          <p:cNvPr id="1643281264" name="Text 34"/>
          <p:cNvSpPr/>
          <p:nvPr/>
        </p:nvSpPr>
        <p:spPr bwMode="auto">
          <a:xfrm>
            <a:off x="6266687" y="5169407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Manual Reporting</a:t>
            </a:r>
            <a:endParaRPr lang="en-US" sz="1400"/>
          </a:p>
        </p:txBody>
      </p:sp>
      <p:sp>
        <p:nvSpPr>
          <p:cNvPr id="1296308722" name="Text 35"/>
          <p:cNvSpPr/>
          <p:nvPr/>
        </p:nvSpPr>
        <p:spPr bwMode="auto">
          <a:xfrm>
            <a:off x="6266687" y="5681471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Slow, error-prone data consolidation</a:t>
            </a:r>
            <a:endParaRPr lang="en-US" sz="1100"/>
          </a:p>
        </p:txBody>
      </p:sp>
      <p:sp>
        <p:nvSpPr>
          <p:cNvPr id="1654912642" name="Shape 36"/>
          <p:cNvSpPr/>
          <p:nvPr/>
        </p:nvSpPr>
        <p:spPr bwMode="auto">
          <a:xfrm>
            <a:off x="8912351" y="4681728"/>
            <a:ext cx="2596894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8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466912484" name="Text 37"/>
          <p:cNvSpPr/>
          <p:nvPr/>
        </p:nvSpPr>
        <p:spPr bwMode="auto">
          <a:xfrm>
            <a:off x="9034272" y="4779263"/>
            <a:ext cx="4876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8</a:t>
            </a:r>
            <a:endParaRPr lang="en-US" sz="1600"/>
          </a:p>
        </p:txBody>
      </p:sp>
      <p:sp>
        <p:nvSpPr>
          <p:cNvPr id="718558936" name="Text 38"/>
          <p:cNvSpPr/>
          <p:nvPr/>
        </p:nvSpPr>
        <p:spPr bwMode="auto">
          <a:xfrm>
            <a:off x="9034272" y="5169407"/>
            <a:ext cx="2353055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Lack of Transparency</a:t>
            </a:r>
            <a:endParaRPr lang="en-US" sz="1400"/>
          </a:p>
        </p:txBody>
      </p:sp>
      <p:sp>
        <p:nvSpPr>
          <p:cNvPr id="1124156156" name="Text 39"/>
          <p:cNvSpPr/>
          <p:nvPr/>
        </p:nvSpPr>
        <p:spPr bwMode="auto">
          <a:xfrm>
            <a:off x="9034272" y="5681471"/>
            <a:ext cx="2353055" cy="792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Communities cannot verify distribution fairness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046310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777726437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1800"/>
          </a:p>
        </p:txBody>
      </p:sp>
      <p:sp>
        <p:nvSpPr>
          <p:cNvPr id="731711026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Project Objectives &amp; Scope</a:t>
            </a:r>
            <a:endParaRPr lang="en-US" sz="2600"/>
          </a:p>
        </p:txBody>
      </p:sp>
      <p:sp>
        <p:nvSpPr>
          <p:cNvPr id="1077236315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SMART objectives grounded in the Feni Floods 2024–2025 case study</a:t>
            </a:r>
            <a:endParaRPr lang="en-US" sz="1600"/>
          </a:p>
        </p:txBody>
      </p:sp>
      <p:sp>
        <p:nvSpPr>
          <p:cNvPr id="127539656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415854929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000"/>
          </a:p>
        </p:txBody>
      </p:sp>
      <p:sp>
        <p:nvSpPr>
          <p:cNvPr id="45030611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193538938" name="Shape 7"/>
          <p:cNvSpPr/>
          <p:nvPr/>
        </p:nvSpPr>
        <p:spPr bwMode="auto">
          <a:xfrm>
            <a:off x="2103716" y="2340863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396837053" name="Text 8"/>
          <p:cNvSpPr/>
          <p:nvPr/>
        </p:nvSpPr>
        <p:spPr bwMode="auto">
          <a:xfrm>
            <a:off x="2103716" y="23408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</a:t>
            </a:r>
            <a:endParaRPr lang="en-US" sz="1800"/>
          </a:p>
        </p:txBody>
      </p:sp>
      <p:sp>
        <p:nvSpPr>
          <p:cNvPr id="274650717" name="Text 9"/>
          <p:cNvSpPr/>
          <p:nvPr/>
        </p:nvSpPr>
        <p:spPr bwMode="auto">
          <a:xfrm>
            <a:off x="2713316" y="2365247"/>
            <a:ext cx="20726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Specific</a:t>
            </a:r>
            <a:endParaRPr lang="en-US" sz="1600"/>
          </a:p>
        </p:txBody>
      </p:sp>
      <p:sp>
        <p:nvSpPr>
          <p:cNvPr id="1732994082" name="Text 10"/>
          <p:cNvSpPr/>
          <p:nvPr/>
        </p:nvSpPr>
        <p:spPr bwMode="auto">
          <a:xfrm flipH="0" flipV="0">
            <a:off x="4132541" y="2365247"/>
            <a:ext cx="4873546" cy="482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Real-time duplicate detection with a 7-day lookback window</a:t>
            </a:r>
            <a:endParaRPr lang="en-US" sz="1400"/>
          </a:p>
        </p:txBody>
      </p:sp>
      <p:sp>
        <p:nvSpPr>
          <p:cNvPr id="1632800424" name="Shape 11"/>
          <p:cNvSpPr/>
          <p:nvPr/>
        </p:nvSpPr>
        <p:spPr bwMode="auto">
          <a:xfrm>
            <a:off x="2103716" y="2901695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678027427" name="Text 12"/>
          <p:cNvSpPr/>
          <p:nvPr/>
        </p:nvSpPr>
        <p:spPr bwMode="auto">
          <a:xfrm>
            <a:off x="2103716" y="290169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</a:t>
            </a:r>
            <a:endParaRPr lang="en-US" sz="1800"/>
          </a:p>
        </p:txBody>
      </p:sp>
      <p:sp>
        <p:nvSpPr>
          <p:cNvPr id="1385065612" name="Text 13"/>
          <p:cNvSpPr/>
          <p:nvPr/>
        </p:nvSpPr>
        <p:spPr bwMode="auto">
          <a:xfrm>
            <a:off x="2713316" y="2926079"/>
            <a:ext cx="20726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Measurable</a:t>
            </a:r>
            <a:endParaRPr lang="en-US" sz="1600"/>
          </a:p>
        </p:txBody>
      </p:sp>
      <p:sp>
        <p:nvSpPr>
          <p:cNvPr id="852943227" name="Text 14"/>
          <p:cNvSpPr/>
          <p:nvPr/>
        </p:nvSpPr>
        <p:spPr bwMode="auto">
          <a:xfrm flipH="0" flipV="0">
            <a:off x="4132541" y="2926079"/>
            <a:ext cx="4873546" cy="482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95%+ offline sync success; 90%+ duplicate detection accuracy</a:t>
            </a:r>
            <a:endParaRPr lang="en-US" sz="1400"/>
          </a:p>
        </p:txBody>
      </p:sp>
      <p:sp>
        <p:nvSpPr>
          <p:cNvPr id="200722660" name="Shape 15"/>
          <p:cNvSpPr/>
          <p:nvPr/>
        </p:nvSpPr>
        <p:spPr bwMode="auto">
          <a:xfrm>
            <a:off x="2103716" y="3462527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947479242" name="Text 16"/>
          <p:cNvSpPr/>
          <p:nvPr/>
        </p:nvSpPr>
        <p:spPr bwMode="auto">
          <a:xfrm>
            <a:off x="2103716" y="346252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</a:t>
            </a:r>
            <a:endParaRPr lang="en-US" sz="1800"/>
          </a:p>
        </p:txBody>
      </p:sp>
      <p:sp>
        <p:nvSpPr>
          <p:cNvPr id="2099651007" name="Text 17"/>
          <p:cNvSpPr/>
          <p:nvPr/>
        </p:nvSpPr>
        <p:spPr bwMode="auto">
          <a:xfrm>
            <a:off x="2713316" y="3486911"/>
            <a:ext cx="20726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Achievable</a:t>
            </a:r>
            <a:endParaRPr lang="en-US" sz="1600"/>
          </a:p>
        </p:txBody>
      </p:sp>
      <p:sp>
        <p:nvSpPr>
          <p:cNvPr id="964667533" name="Text 18"/>
          <p:cNvSpPr/>
          <p:nvPr/>
        </p:nvSpPr>
        <p:spPr bwMode="auto">
          <a:xfrm flipH="0" flipV="0">
            <a:off x="4132541" y="3486911"/>
            <a:ext cx="4873546" cy="482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GPS-based household registration with photo evidence</a:t>
            </a:r>
            <a:endParaRPr lang="en-US" sz="1400"/>
          </a:p>
        </p:txBody>
      </p:sp>
      <p:sp>
        <p:nvSpPr>
          <p:cNvPr id="781730563" name="Shape 19"/>
          <p:cNvSpPr/>
          <p:nvPr/>
        </p:nvSpPr>
        <p:spPr bwMode="auto">
          <a:xfrm>
            <a:off x="2103716" y="402336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2087798400" name="Text 20"/>
          <p:cNvSpPr/>
          <p:nvPr/>
        </p:nvSpPr>
        <p:spPr bwMode="auto">
          <a:xfrm>
            <a:off x="2103716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</a:t>
            </a:r>
            <a:endParaRPr lang="en-US" sz="1800"/>
          </a:p>
        </p:txBody>
      </p:sp>
      <p:sp>
        <p:nvSpPr>
          <p:cNvPr id="2104390493" name="Text 21"/>
          <p:cNvSpPr/>
          <p:nvPr/>
        </p:nvSpPr>
        <p:spPr bwMode="auto">
          <a:xfrm>
            <a:off x="2713316" y="4047743"/>
            <a:ext cx="20726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Relevant</a:t>
            </a:r>
            <a:endParaRPr lang="en-US" sz="1600"/>
          </a:p>
        </p:txBody>
      </p:sp>
      <p:sp>
        <p:nvSpPr>
          <p:cNvPr id="2101582634" name="Text 22"/>
          <p:cNvSpPr/>
          <p:nvPr/>
        </p:nvSpPr>
        <p:spPr bwMode="auto">
          <a:xfrm flipH="0" flipV="0">
            <a:off x="4132541" y="4047743"/>
            <a:ext cx="4873546" cy="482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Transparent public dashboard with an interactive heatmap</a:t>
            </a:r>
            <a:endParaRPr lang="en-US" sz="1400"/>
          </a:p>
        </p:txBody>
      </p:sp>
      <p:sp>
        <p:nvSpPr>
          <p:cNvPr id="2011039626" name="Shape 23"/>
          <p:cNvSpPr/>
          <p:nvPr/>
        </p:nvSpPr>
        <p:spPr bwMode="auto">
          <a:xfrm>
            <a:off x="2103716" y="4584191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459547316" name="Text 24"/>
          <p:cNvSpPr/>
          <p:nvPr/>
        </p:nvSpPr>
        <p:spPr bwMode="auto">
          <a:xfrm>
            <a:off x="2103716" y="458419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</a:t>
            </a:r>
            <a:endParaRPr lang="en-US" sz="1800"/>
          </a:p>
        </p:txBody>
      </p:sp>
      <p:sp>
        <p:nvSpPr>
          <p:cNvPr id="1255177401" name="Text 25"/>
          <p:cNvSpPr/>
          <p:nvPr/>
        </p:nvSpPr>
        <p:spPr bwMode="auto">
          <a:xfrm>
            <a:off x="2713316" y="4608576"/>
            <a:ext cx="20726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Time-bound</a:t>
            </a:r>
            <a:endParaRPr lang="en-US" sz="1600"/>
          </a:p>
        </p:txBody>
      </p:sp>
      <p:sp>
        <p:nvSpPr>
          <p:cNvPr id="1761104752" name="Text 26"/>
          <p:cNvSpPr/>
          <p:nvPr/>
        </p:nvSpPr>
        <p:spPr bwMode="auto">
          <a:xfrm flipH="0" flipV="0">
            <a:off x="4132541" y="4608576"/>
            <a:ext cx="4873546" cy="482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Complete system deployed within a 3-week development cycle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238342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589622208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1800"/>
          </a:p>
        </p:txBody>
      </p:sp>
      <p:sp>
        <p:nvSpPr>
          <p:cNvPr id="251268882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Project Objectives &amp; Scope</a:t>
            </a:r>
            <a:endParaRPr lang="en-US" sz="2600"/>
          </a:p>
        </p:txBody>
      </p:sp>
      <p:sp>
        <p:nvSpPr>
          <p:cNvPr id="1272806006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SMART objectives grounded in the Feni Floods 2024–2025 case study</a:t>
            </a:r>
            <a:endParaRPr lang="en-US" sz="1600"/>
          </a:p>
        </p:txBody>
      </p:sp>
      <p:sp>
        <p:nvSpPr>
          <p:cNvPr id="2046326039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756043661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000"/>
          </a:p>
        </p:txBody>
      </p:sp>
      <p:sp>
        <p:nvSpPr>
          <p:cNvPr id="1863905335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315042973" name="Shape 27"/>
          <p:cNvSpPr/>
          <p:nvPr/>
        </p:nvSpPr>
        <p:spPr bwMode="auto">
          <a:xfrm>
            <a:off x="609599" y="451103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291927437" name="Text 28"/>
          <p:cNvSpPr/>
          <p:nvPr/>
        </p:nvSpPr>
        <p:spPr bwMode="auto">
          <a:xfrm>
            <a:off x="609599" y="4632959"/>
            <a:ext cx="536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In Scope</a:t>
            </a:r>
            <a:endParaRPr lang="en-US" sz="1600"/>
          </a:p>
        </p:txBody>
      </p:sp>
      <p:sp>
        <p:nvSpPr>
          <p:cNvPr id="358562274" name="Text 29"/>
          <p:cNvSpPr/>
          <p:nvPr/>
        </p:nvSpPr>
        <p:spPr bwMode="auto">
          <a:xfrm>
            <a:off x="609599" y="5023103"/>
            <a:ext cx="53644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GPS/photo household registration &amp; relief logging</a:t>
            </a:r>
            <a:endParaRPr lang="en-US" sz="12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Rule-based duplicate detection engine</a:t>
            </a:r>
            <a:endParaRPr lang="en-US" sz="12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Offline-first entry with sync &amp; conflict resolution</a:t>
            </a:r>
            <a:endParaRPr lang="en-US" sz="12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Public dashboard, heatmap &amp; pledge coordination</a:t>
            </a:r>
            <a:endParaRPr lang="en-US" sz="1200"/>
          </a:p>
        </p:txBody>
      </p:sp>
      <p:sp>
        <p:nvSpPr>
          <p:cNvPr id="2046776516" name="Text 30"/>
          <p:cNvSpPr/>
          <p:nvPr/>
        </p:nvSpPr>
        <p:spPr bwMode="auto">
          <a:xfrm>
            <a:off x="6217920" y="4632959"/>
            <a:ext cx="5364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Out of Scope</a:t>
            </a:r>
            <a:endParaRPr lang="en-US" sz="1600"/>
          </a:p>
        </p:txBody>
      </p:sp>
      <p:sp>
        <p:nvSpPr>
          <p:cNvPr id="2125681133" name="Text 31"/>
          <p:cNvSpPr/>
          <p:nvPr/>
        </p:nvSpPr>
        <p:spPr bwMode="auto">
          <a:xfrm>
            <a:off x="6217920" y="5023103"/>
            <a:ext cx="536447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Financial transactions &amp; procurement</a:t>
            </a:r>
            <a:endParaRPr lang="en-US" sz="12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AI-based forecasting &amp; national NID integration</a:t>
            </a:r>
            <a:endParaRPr lang="en-US" sz="12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Native mobile apps (PWA only)</a:t>
            </a:r>
            <a:endParaRPr lang="en-US" sz="12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Real-time satellite GIS</a:t>
            </a:r>
            <a:endParaRPr lang="en-US" sz="1200"/>
          </a:p>
        </p:txBody>
      </p:sp>
      <p:pic>
        <p:nvPicPr>
          <p:cNvPr id="103914591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40298" y="1402079"/>
            <a:ext cx="4511402" cy="3189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907776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992738781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1800"/>
          </a:p>
        </p:txBody>
      </p:sp>
      <p:sp>
        <p:nvSpPr>
          <p:cNvPr id="44052910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Stakeholder Analysis</a:t>
            </a:r>
            <a:endParaRPr lang="en-US" sz="2600"/>
          </a:p>
        </p:txBody>
      </p:sp>
      <p:sp>
        <p:nvSpPr>
          <p:cNvPr id="709026046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5 key personas across the relief ecosystem, mapped by power and interest</a:t>
            </a:r>
            <a:endParaRPr lang="en-US" sz="1800"/>
          </a:p>
        </p:txBody>
      </p:sp>
      <p:sp>
        <p:nvSpPr>
          <p:cNvPr id="1513998579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475423558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100"/>
          </a:p>
        </p:txBody>
      </p:sp>
      <p:sp>
        <p:nvSpPr>
          <p:cNvPr id="1930364778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100"/>
          </a:p>
        </p:txBody>
      </p:sp>
      <p:graphicFrame>
        <p:nvGraphicFramePr>
          <p:cNvPr id="1644360629" name="Table 0"/>
          <p:cNvGraphicFramePr>
            <a:graphicFrameLocks xmlns:a="http://schemas.openxmlformats.org/drawingml/2006/main"/>
          </p:cNvGraphicFramePr>
          <p:nvPr/>
        </p:nvGraphicFramePr>
        <p:xfrm rot="0">
          <a:off x="914399" y="2179319"/>
          <a:ext cx="5052322" cy="301751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00000"/>
                <a:gridCol w="1530000"/>
                <a:gridCol w="810000"/>
                <a:gridCol w="912322"/>
              </a:tblGrid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Stakeholder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Role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Power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Interest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Upazila Nirbahi Officer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Strategic oversight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UP Official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Primary operator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NGO / Aid Worker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Field partner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Citizen / Household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Beneficiary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Outside Donor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Supporter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System Administrator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Technical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High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128024552" name="Text 7"/>
          <p:cNvSpPr/>
          <p:nvPr/>
        </p:nvSpPr>
        <p:spPr bwMode="auto">
          <a:xfrm>
            <a:off x="7376159" y="1609343"/>
            <a:ext cx="4267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Power–Interest Grid</a:t>
            </a:r>
            <a:endParaRPr lang="en-US" sz="1800"/>
          </a:p>
        </p:txBody>
      </p:sp>
      <p:sp>
        <p:nvSpPr>
          <p:cNvPr id="1784905724" name="Shape 8"/>
          <p:cNvSpPr/>
          <p:nvPr/>
        </p:nvSpPr>
        <p:spPr bwMode="auto">
          <a:xfrm>
            <a:off x="7376159" y="2048255"/>
            <a:ext cx="4267199" cy="877824"/>
          </a:xfrm>
          <a:prstGeom prst="roundRect">
            <a:avLst>
              <a:gd name="adj" fmla="val 6944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353346703" name="Shape 9"/>
          <p:cNvSpPr/>
          <p:nvPr/>
        </p:nvSpPr>
        <p:spPr bwMode="auto">
          <a:xfrm>
            <a:off x="7376159" y="2048255"/>
            <a:ext cx="97535" cy="877824"/>
          </a:xfrm>
          <a:prstGeom prst="rect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671214846" name="Text 10"/>
          <p:cNvSpPr/>
          <p:nvPr/>
        </p:nvSpPr>
        <p:spPr bwMode="auto">
          <a:xfrm>
            <a:off x="7619999" y="2121408"/>
            <a:ext cx="390143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High Power / High Interest</a:t>
            </a:r>
            <a:endParaRPr lang="en-US" sz="1400"/>
          </a:p>
        </p:txBody>
      </p:sp>
      <p:sp>
        <p:nvSpPr>
          <p:cNvPr id="2040735695" name="Text 11"/>
          <p:cNvSpPr/>
          <p:nvPr/>
        </p:nvSpPr>
        <p:spPr bwMode="auto">
          <a:xfrm>
            <a:off x="7619999" y="2462783"/>
            <a:ext cx="3901439" cy="41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UNO · UP Official · Admin — engage closely</a:t>
            </a:r>
            <a:endParaRPr lang="en-US" sz="1200"/>
          </a:p>
        </p:txBody>
      </p:sp>
      <p:sp>
        <p:nvSpPr>
          <p:cNvPr id="1118801820" name="Shape 12"/>
          <p:cNvSpPr/>
          <p:nvPr/>
        </p:nvSpPr>
        <p:spPr bwMode="auto">
          <a:xfrm>
            <a:off x="7376159" y="3084575"/>
            <a:ext cx="4267199" cy="877824"/>
          </a:xfrm>
          <a:prstGeom prst="roundRect">
            <a:avLst>
              <a:gd name="adj" fmla="val 6944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216100411" name="Shape 13"/>
          <p:cNvSpPr/>
          <p:nvPr/>
        </p:nvSpPr>
        <p:spPr bwMode="auto">
          <a:xfrm>
            <a:off x="7376159" y="3084575"/>
            <a:ext cx="97535" cy="877824"/>
          </a:xfrm>
          <a:prstGeom prst="rect">
            <a:avLst/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847775399" name="Text 14"/>
          <p:cNvSpPr/>
          <p:nvPr/>
        </p:nvSpPr>
        <p:spPr bwMode="auto">
          <a:xfrm>
            <a:off x="7619999" y="3157727"/>
            <a:ext cx="390143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Low Power / High Interest</a:t>
            </a:r>
            <a:endParaRPr lang="en-US" sz="1400"/>
          </a:p>
        </p:txBody>
      </p:sp>
      <p:sp>
        <p:nvSpPr>
          <p:cNvPr id="1696759385" name="Text 15"/>
          <p:cNvSpPr/>
          <p:nvPr/>
        </p:nvSpPr>
        <p:spPr bwMode="auto">
          <a:xfrm>
            <a:off x="7619999" y="3499103"/>
            <a:ext cx="3901439" cy="41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Citizens · NGO Workers · Donors — keep informed</a:t>
            </a:r>
            <a:endParaRPr lang="en-US" sz="1200"/>
          </a:p>
        </p:txBody>
      </p:sp>
      <p:sp>
        <p:nvSpPr>
          <p:cNvPr id="520454048" name="Shape 16"/>
          <p:cNvSpPr/>
          <p:nvPr/>
        </p:nvSpPr>
        <p:spPr bwMode="auto">
          <a:xfrm>
            <a:off x="7376159" y="4120895"/>
            <a:ext cx="4267199" cy="877824"/>
          </a:xfrm>
          <a:prstGeom prst="roundRect">
            <a:avLst>
              <a:gd name="adj" fmla="val 6944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900654969" name="Shape 17"/>
          <p:cNvSpPr/>
          <p:nvPr/>
        </p:nvSpPr>
        <p:spPr bwMode="auto">
          <a:xfrm>
            <a:off x="7376159" y="4120895"/>
            <a:ext cx="97535" cy="877824"/>
          </a:xfrm>
          <a:prstGeom prst="rect">
            <a:avLst/>
          </a:prstGeom>
          <a:solidFill>
            <a:srgbClr val="6E93A6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279407018" name="Text 18"/>
          <p:cNvSpPr/>
          <p:nvPr/>
        </p:nvSpPr>
        <p:spPr bwMode="auto">
          <a:xfrm>
            <a:off x="7619999" y="4194047"/>
            <a:ext cx="390143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High Power / Low Interest</a:t>
            </a:r>
            <a:endParaRPr lang="en-US" sz="1400"/>
          </a:p>
        </p:txBody>
      </p:sp>
      <p:sp>
        <p:nvSpPr>
          <p:cNvPr id="696275580" name="Text 19"/>
          <p:cNvSpPr/>
          <p:nvPr/>
        </p:nvSpPr>
        <p:spPr bwMode="auto">
          <a:xfrm>
            <a:off x="7619999" y="4535424"/>
            <a:ext cx="3901439" cy="41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Oversight bodies — keep satisfied</a:t>
            </a:r>
            <a:endParaRPr lang="en-US" sz="1200"/>
          </a:p>
        </p:txBody>
      </p:sp>
      <p:sp>
        <p:nvSpPr>
          <p:cNvPr id="701875701" name="Shape 20"/>
          <p:cNvSpPr/>
          <p:nvPr/>
        </p:nvSpPr>
        <p:spPr bwMode="auto">
          <a:xfrm>
            <a:off x="7376159" y="5157214"/>
            <a:ext cx="4267199" cy="877824"/>
          </a:xfrm>
          <a:prstGeom prst="roundRect">
            <a:avLst>
              <a:gd name="adj" fmla="val 6944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935524547" name="Shape 21"/>
          <p:cNvSpPr/>
          <p:nvPr/>
        </p:nvSpPr>
        <p:spPr bwMode="auto">
          <a:xfrm>
            <a:off x="7376159" y="5157214"/>
            <a:ext cx="97535" cy="877824"/>
          </a:xfrm>
          <a:prstGeom prst="rect">
            <a:avLst/>
          </a:prstGeom>
          <a:solidFill>
            <a:srgbClr val="A9BCC6"/>
          </a:solidFill>
          <a:ln/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914860509" name="Text 22"/>
          <p:cNvSpPr/>
          <p:nvPr/>
        </p:nvSpPr>
        <p:spPr bwMode="auto">
          <a:xfrm>
            <a:off x="7619999" y="5230366"/>
            <a:ext cx="390143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Low Power / Low Interest</a:t>
            </a:r>
            <a:endParaRPr lang="en-US" sz="1400"/>
          </a:p>
        </p:txBody>
      </p:sp>
      <p:sp>
        <p:nvSpPr>
          <p:cNvPr id="1950190237" name="Text 23"/>
          <p:cNvSpPr/>
          <p:nvPr/>
        </p:nvSpPr>
        <p:spPr bwMode="auto">
          <a:xfrm>
            <a:off x="7619999" y="5571743"/>
            <a:ext cx="3901439" cy="414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General public — monitor minimally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554972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209476851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04</a:t>
            </a:r>
            <a:endParaRPr lang="en-US" sz="1800"/>
          </a:p>
        </p:txBody>
      </p:sp>
      <p:sp>
        <p:nvSpPr>
          <p:cNvPr id="1000401934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Functional Requirements</a:t>
            </a:r>
            <a:endParaRPr lang="en-US" sz="2600"/>
          </a:p>
        </p:txBody>
      </p:sp>
      <p:sp>
        <p:nvSpPr>
          <p:cNvPr id="551244297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44 functional requirements across 11 feature categories (FR-01 to FR-44)</a:t>
            </a:r>
            <a:endParaRPr lang="en-US" sz="1600"/>
          </a:p>
        </p:txBody>
      </p:sp>
      <p:sp>
        <p:nvSpPr>
          <p:cNvPr id="1891994610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761722227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200"/>
          </a:p>
        </p:txBody>
      </p:sp>
      <p:sp>
        <p:nvSpPr>
          <p:cNvPr id="606906661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200"/>
          </a:p>
        </p:txBody>
      </p:sp>
      <p:graphicFrame>
        <p:nvGraphicFramePr>
          <p:cNvPr id="219186528" name="Table 0"/>
          <p:cNvGraphicFramePr>
            <a:graphicFrameLocks xmlns:a="http://schemas.openxmlformats.org/drawingml/2006/main"/>
          </p:cNvGraphicFramePr>
          <p:nvPr/>
        </p:nvGraphicFramePr>
        <p:xfrm rot="0">
          <a:off x="2005583" y="1493373"/>
          <a:ext cx="8229600" cy="368807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91640"/>
                <a:gridCol w="457200"/>
                <a:gridCol w="6080760"/>
              </a:tblGrid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Features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Authentication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Registration, login, RBAC, profile, password reset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Area Management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Geo hierarchy CRUD (Division → Ward), search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Household Mgmt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GPS/NID registration, vulnerability flags, CRUD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Distribution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Item-level logging, photo/GPS proof, CRUD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Duplicate Alerts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7-day detection, resolution workflow, dashboard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Need Assessment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Sphere-standard calculation, override, comparison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Pledge Management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Multi-source pledges, fulfillment, status lifecycle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Feedback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Citizen submission, official response, moderation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Reports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PDF generation, CSV export, filtered queries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Sync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Offline queue push/pull, conflict resolution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37744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Public Dashboard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Aggregate stats, heatmap, transparency view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5435909" name="Shape 7"/>
          <p:cNvSpPr/>
          <p:nvPr/>
        </p:nvSpPr>
        <p:spPr bwMode="auto">
          <a:xfrm>
            <a:off x="609599" y="5638360"/>
            <a:ext cx="2596894" cy="633983"/>
          </a:xfrm>
          <a:prstGeom prst="roundRect">
            <a:avLst>
              <a:gd name="adj" fmla="val 9615"/>
            </a:avLst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736109045" name="Text 8"/>
          <p:cNvSpPr/>
          <p:nvPr/>
        </p:nvSpPr>
        <p:spPr bwMode="auto">
          <a:xfrm>
            <a:off x="609599" y="5638360"/>
            <a:ext cx="2596894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Must Have</a:t>
            </a:r>
            <a:endParaRPr lang="en-US" sz="2200"/>
          </a:p>
        </p:txBody>
      </p:sp>
      <p:sp>
        <p:nvSpPr>
          <p:cNvPr id="1326287583" name="Shape 9"/>
          <p:cNvSpPr/>
          <p:nvPr/>
        </p:nvSpPr>
        <p:spPr bwMode="auto">
          <a:xfrm>
            <a:off x="3364992" y="5638360"/>
            <a:ext cx="2596894" cy="633983"/>
          </a:xfrm>
          <a:prstGeom prst="roundRect">
            <a:avLst>
              <a:gd name="adj" fmla="val 9615"/>
            </a:avLst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875334906" name="Text 10"/>
          <p:cNvSpPr/>
          <p:nvPr/>
        </p:nvSpPr>
        <p:spPr bwMode="auto">
          <a:xfrm>
            <a:off x="3364992" y="5638360"/>
            <a:ext cx="2596894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Should Have</a:t>
            </a:r>
            <a:endParaRPr lang="en-US" sz="2200"/>
          </a:p>
        </p:txBody>
      </p:sp>
      <p:sp>
        <p:nvSpPr>
          <p:cNvPr id="1967470384" name="Shape 11"/>
          <p:cNvSpPr/>
          <p:nvPr/>
        </p:nvSpPr>
        <p:spPr bwMode="auto">
          <a:xfrm>
            <a:off x="6120383" y="5638360"/>
            <a:ext cx="2596894" cy="633983"/>
          </a:xfrm>
          <a:prstGeom prst="roundRect">
            <a:avLst>
              <a:gd name="adj" fmla="val 9615"/>
            </a:avLst>
          </a:prstGeom>
          <a:solidFill>
            <a:srgbClr val="6E93A6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263028613" name="Text 12"/>
          <p:cNvSpPr/>
          <p:nvPr/>
        </p:nvSpPr>
        <p:spPr bwMode="auto">
          <a:xfrm>
            <a:off x="6120383" y="5638360"/>
            <a:ext cx="2596894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Could Have</a:t>
            </a:r>
            <a:endParaRPr lang="en-US" sz="2200"/>
          </a:p>
        </p:txBody>
      </p:sp>
      <p:sp>
        <p:nvSpPr>
          <p:cNvPr id="1351801053" name="Shape 13"/>
          <p:cNvSpPr/>
          <p:nvPr/>
        </p:nvSpPr>
        <p:spPr bwMode="auto">
          <a:xfrm>
            <a:off x="8875775" y="5638360"/>
            <a:ext cx="2596894" cy="633983"/>
          </a:xfrm>
          <a:prstGeom prst="roundRect">
            <a:avLst>
              <a:gd name="adj" fmla="val 9615"/>
            </a:avLst>
          </a:prstGeom>
          <a:solidFill>
            <a:srgbClr val="A9BCC6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836984173" name="Text 14"/>
          <p:cNvSpPr/>
          <p:nvPr/>
        </p:nvSpPr>
        <p:spPr bwMode="auto">
          <a:xfrm>
            <a:off x="8875775" y="5638360"/>
            <a:ext cx="2596894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Won't Have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489934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874876309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05</a:t>
            </a:r>
            <a:endParaRPr lang="en-US" sz="1800"/>
          </a:p>
        </p:txBody>
      </p:sp>
      <p:sp>
        <p:nvSpPr>
          <p:cNvPr id="966507644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Non-Functional Requirements</a:t>
            </a:r>
            <a:endParaRPr lang="en-US" sz="2600"/>
          </a:p>
        </p:txBody>
      </p:sp>
      <p:sp>
        <p:nvSpPr>
          <p:cNvPr id="2016513924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15 NFRs spanning performance, reliability, security, compliance &amp; usability</a:t>
            </a:r>
            <a:endParaRPr lang="en-US" sz="2200"/>
          </a:p>
        </p:txBody>
      </p:sp>
      <p:sp>
        <p:nvSpPr>
          <p:cNvPr id="1386145150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835168744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400"/>
          </a:p>
        </p:txBody>
      </p:sp>
      <p:sp>
        <p:nvSpPr>
          <p:cNvPr id="973716662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400"/>
          </a:p>
        </p:txBody>
      </p:sp>
      <p:sp>
        <p:nvSpPr>
          <p:cNvPr id="824862016" name="Shape 7"/>
          <p:cNvSpPr/>
          <p:nvPr/>
        </p:nvSpPr>
        <p:spPr bwMode="auto">
          <a:xfrm>
            <a:off x="609599" y="1633727"/>
            <a:ext cx="609599" cy="609599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3E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50208494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8096" y="1792224"/>
            <a:ext cx="292608" cy="292608"/>
          </a:xfrm>
          <a:prstGeom prst="rect">
            <a:avLst/>
          </a:prstGeom>
        </p:spPr>
      </p:pic>
      <p:sp>
        <p:nvSpPr>
          <p:cNvPr id="1120876693" name="Text 8"/>
          <p:cNvSpPr/>
          <p:nvPr/>
        </p:nvSpPr>
        <p:spPr bwMode="auto">
          <a:xfrm>
            <a:off x="1463040" y="1609343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Performance &amp; Scalability</a:t>
            </a:r>
            <a:endParaRPr lang="en-US" sz="2200"/>
          </a:p>
        </p:txBody>
      </p:sp>
      <p:sp>
        <p:nvSpPr>
          <p:cNvPr id="633351084" name="Text 9"/>
          <p:cNvSpPr/>
          <p:nvPr/>
        </p:nvSpPr>
        <p:spPr bwMode="auto">
          <a:xfrm>
            <a:off x="5303520" y="1609343"/>
            <a:ext cx="6278879" cy="853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Sub-2s API response time (p95 percentile)</a:t>
            </a:r>
            <a:endParaRPr lang="en-US" sz="1800"/>
          </a:p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Support for 500+ concurrent users</a:t>
            </a:r>
            <a:endParaRPr lang="en-US" sz="1800"/>
          </a:p>
        </p:txBody>
      </p:sp>
      <p:sp>
        <p:nvSpPr>
          <p:cNvPr id="1750861570" name="Shape 10"/>
          <p:cNvSpPr/>
          <p:nvPr/>
        </p:nvSpPr>
        <p:spPr bwMode="auto">
          <a:xfrm>
            <a:off x="609599" y="2487167"/>
            <a:ext cx="10972800" cy="0"/>
          </a:xfrm>
          <a:prstGeom prst="line">
            <a:avLst/>
          </a:prstGeom>
          <a:noFill/>
          <a:ln w="12700">
            <a:solidFill>
              <a:srgbClr val="EAF0F3"/>
            </a:solidFill>
            <a:prstDash val="solid"/>
          </a:ln>
        </p:spPr>
      </p:sp>
      <p:sp>
        <p:nvSpPr>
          <p:cNvPr id="2102640965" name="Shape 11"/>
          <p:cNvSpPr/>
          <p:nvPr/>
        </p:nvSpPr>
        <p:spPr bwMode="auto">
          <a:xfrm>
            <a:off x="609599" y="2584703"/>
            <a:ext cx="609599" cy="609599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3E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73229353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68096" y="2743199"/>
            <a:ext cx="292608" cy="292608"/>
          </a:xfrm>
          <a:prstGeom prst="rect">
            <a:avLst/>
          </a:prstGeom>
        </p:spPr>
      </p:pic>
      <p:sp>
        <p:nvSpPr>
          <p:cNvPr id="747503255" name="Text 12"/>
          <p:cNvSpPr/>
          <p:nvPr/>
        </p:nvSpPr>
        <p:spPr bwMode="auto">
          <a:xfrm>
            <a:off x="1463040" y="2560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Reliability &amp; Availability</a:t>
            </a:r>
            <a:endParaRPr lang="en-US" sz="2200"/>
          </a:p>
        </p:txBody>
      </p:sp>
      <p:sp>
        <p:nvSpPr>
          <p:cNvPr id="1739047180" name="Text 13"/>
          <p:cNvSpPr/>
          <p:nvPr/>
        </p:nvSpPr>
        <p:spPr bwMode="auto">
          <a:xfrm>
            <a:off x="5303520" y="2560320"/>
            <a:ext cx="6278879" cy="853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Offline-first PWA for disconnected areas</a:t>
            </a:r>
            <a:endParaRPr lang="en-US" sz="1800"/>
          </a:p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99.5% uptime target with graceful degradation</a:t>
            </a:r>
            <a:endParaRPr lang="en-US" sz="1800"/>
          </a:p>
        </p:txBody>
      </p:sp>
      <p:sp>
        <p:nvSpPr>
          <p:cNvPr id="1447802871" name="Shape 14"/>
          <p:cNvSpPr/>
          <p:nvPr/>
        </p:nvSpPr>
        <p:spPr bwMode="auto">
          <a:xfrm>
            <a:off x="609599" y="3438143"/>
            <a:ext cx="10972800" cy="0"/>
          </a:xfrm>
          <a:prstGeom prst="line">
            <a:avLst/>
          </a:prstGeom>
          <a:noFill/>
          <a:ln w="12700">
            <a:solidFill>
              <a:srgbClr val="EAF0F3"/>
            </a:solidFill>
            <a:prstDash val="solid"/>
          </a:ln>
        </p:spPr>
      </p:sp>
      <p:sp>
        <p:nvSpPr>
          <p:cNvPr id="1979310020" name="Shape 15"/>
          <p:cNvSpPr/>
          <p:nvPr/>
        </p:nvSpPr>
        <p:spPr bwMode="auto">
          <a:xfrm>
            <a:off x="609599" y="3535679"/>
            <a:ext cx="609599" cy="609599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3E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141268963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68096" y="3694176"/>
            <a:ext cx="292608" cy="292608"/>
          </a:xfrm>
          <a:prstGeom prst="rect">
            <a:avLst/>
          </a:prstGeom>
        </p:spPr>
      </p:pic>
      <p:sp>
        <p:nvSpPr>
          <p:cNvPr id="1870424621" name="Text 16"/>
          <p:cNvSpPr/>
          <p:nvPr/>
        </p:nvSpPr>
        <p:spPr bwMode="auto">
          <a:xfrm>
            <a:off x="1463040" y="35112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Security</a:t>
            </a:r>
            <a:endParaRPr lang="en-US" sz="2200"/>
          </a:p>
        </p:txBody>
      </p:sp>
      <p:sp>
        <p:nvSpPr>
          <p:cNvPr id="805818104" name="Text 17"/>
          <p:cNvSpPr/>
          <p:nvPr/>
        </p:nvSpPr>
        <p:spPr bwMode="auto">
          <a:xfrm>
            <a:off x="5303520" y="3511296"/>
            <a:ext cx="6278879" cy="853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RBAC: 6 roles × 12 permissions matrix</a:t>
            </a:r>
            <a:endParaRPr lang="en-US" sz="1800"/>
          </a:p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AES-256 encryption; JWT stateless auth</a:t>
            </a:r>
            <a:endParaRPr lang="en-US" sz="1800"/>
          </a:p>
        </p:txBody>
      </p:sp>
      <p:sp>
        <p:nvSpPr>
          <p:cNvPr id="26677032" name="Shape 18"/>
          <p:cNvSpPr/>
          <p:nvPr/>
        </p:nvSpPr>
        <p:spPr bwMode="auto">
          <a:xfrm>
            <a:off x="609599" y="4389119"/>
            <a:ext cx="10972800" cy="0"/>
          </a:xfrm>
          <a:prstGeom prst="line">
            <a:avLst/>
          </a:prstGeom>
          <a:noFill/>
          <a:ln w="12700">
            <a:solidFill>
              <a:srgbClr val="EAF0F3"/>
            </a:solidFill>
            <a:prstDash val="solid"/>
          </a:ln>
        </p:spPr>
      </p:sp>
      <p:sp>
        <p:nvSpPr>
          <p:cNvPr id="1443634029" name="Shape 19"/>
          <p:cNvSpPr/>
          <p:nvPr/>
        </p:nvSpPr>
        <p:spPr bwMode="auto">
          <a:xfrm>
            <a:off x="609599" y="4486655"/>
            <a:ext cx="609599" cy="609599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3E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2623776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68096" y="4645150"/>
            <a:ext cx="292608" cy="292608"/>
          </a:xfrm>
          <a:prstGeom prst="rect">
            <a:avLst/>
          </a:prstGeom>
        </p:spPr>
      </p:pic>
      <p:sp>
        <p:nvSpPr>
          <p:cNvPr id="1396981789" name="Text 20"/>
          <p:cNvSpPr/>
          <p:nvPr/>
        </p:nvSpPr>
        <p:spPr bwMode="auto">
          <a:xfrm>
            <a:off x="1463040" y="44622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Compliance &amp; Standards</a:t>
            </a:r>
            <a:endParaRPr lang="en-US" sz="2200"/>
          </a:p>
        </p:txBody>
      </p:sp>
      <p:sp>
        <p:nvSpPr>
          <p:cNvPr id="1594448787" name="Text 21"/>
          <p:cNvSpPr/>
          <p:nvPr/>
        </p:nvSpPr>
        <p:spPr bwMode="auto">
          <a:xfrm>
            <a:off x="5303520" y="4462272"/>
            <a:ext cx="6278879" cy="853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GDPR-compliant PII handling</a:t>
            </a:r>
            <a:endParaRPr lang="en-US" sz="1800"/>
          </a:p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Sphere humanitarian standards for need calc</a:t>
            </a:r>
            <a:endParaRPr lang="en-US" sz="1800"/>
          </a:p>
        </p:txBody>
      </p:sp>
      <p:sp>
        <p:nvSpPr>
          <p:cNvPr id="2026855485" name="Shape 22"/>
          <p:cNvSpPr/>
          <p:nvPr/>
        </p:nvSpPr>
        <p:spPr bwMode="auto">
          <a:xfrm>
            <a:off x="609599" y="5340095"/>
            <a:ext cx="10972800" cy="0"/>
          </a:xfrm>
          <a:prstGeom prst="line">
            <a:avLst/>
          </a:prstGeom>
          <a:noFill/>
          <a:ln w="12700">
            <a:solidFill>
              <a:srgbClr val="EAF0F3"/>
            </a:solidFill>
            <a:prstDash val="solid"/>
          </a:ln>
        </p:spPr>
      </p:sp>
      <p:sp>
        <p:nvSpPr>
          <p:cNvPr id="699071768" name="Shape 23"/>
          <p:cNvSpPr/>
          <p:nvPr/>
        </p:nvSpPr>
        <p:spPr bwMode="auto">
          <a:xfrm>
            <a:off x="609599" y="5437631"/>
            <a:ext cx="609599" cy="609599"/>
          </a:xfrm>
          <a:prstGeom prst="ellipse">
            <a:avLst/>
          </a:prstGeom>
          <a:solidFill>
            <a:srgbClr val="F2F7FA"/>
          </a:solidFill>
          <a:ln w="12700">
            <a:solidFill>
              <a:srgbClr val="D8E3E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964993653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68096" y="5596127"/>
            <a:ext cx="292608" cy="292608"/>
          </a:xfrm>
          <a:prstGeom prst="rect">
            <a:avLst/>
          </a:prstGeom>
        </p:spPr>
      </p:pic>
      <p:sp>
        <p:nvSpPr>
          <p:cNvPr id="1231188846" name="Text 24"/>
          <p:cNvSpPr/>
          <p:nvPr/>
        </p:nvSpPr>
        <p:spPr bwMode="auto">
          <a:xfrm>
            <a:off x="1463040" y="5413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Usability &amp; Accessibility</a:t>
            </a:r>
            <a:endParaRPr lang="en-US" sz="2200"/>
          </a:p>
        </p:txBody>
      </p:sp>
      <p:sp>
        <p:nvSpPr>
          <p:cNvPr id="1520398800" name="Text 25"/>
          <p:cNvSpPr/>
          <p:nvPr/>
        </p:nvSpPr>
        <p:spPr bwMode="auto">
          <a:xfrm>
            <a:off x="5303520" y="5413248"/>
            <a:ext cx="6278879" cy="853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Responsive design for mobile/tablet field use</a:t>
            </a:r>
            <a:endParaRPr lang="en-US" sz="1800"/>
          </a:p>
          <a:p>
            <a:pPr marL="342900" indent="-342900">
              <a:spcAft>
                <a:spcPts val="199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Bengali language support; basic digital literacy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916938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62623909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06</a:t>
            </a:r>
            <a:endParaRPr lang="en-US" sz="1600"/>
          </a:p>
        </p:txBody>
      </p:sp>
      <p:sp>
        <p:nvSpPr>
          <p:cNvPr id="2100238515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System Modeling — Data Flow Diagrams</a:t>
            </a:r>
            <a:endParaRPr lang="en-US" sz="2500"/>
          </a:p>
        </p:txBody>
      </p:sp>
      <p:sp>
        <p:nvSpPr>
          <p:cNvPr id="1529951158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Context diagram (Level 0)</a:t>
            </a:r>
            <a:endParaRPr lang="en-US" sz="1200"/>
          </a:p>
        </p:txBody>
      </p:sp>
      <p:sp>
        <p:nvSpPr>
          <p:cNvPr id="1475948797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028196670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850"/>
          </a:p>
        </p:txBody>
      </p:sp>
      <p:sp>
        <p:nvSpPr>
          <p:cNvPr id="744847557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85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850"/>
          </a:p>
        </p:txBody>
      </p:sp>
      <p:sp>
        <p:nvSpPr>
          <p:cNvPr id="1093260879" name="Shape 34"/>
          <p:cNvSpPr/>
          <p:nvPr/>
        </p:nvSpPr>
        <p:spPr bwMode="auto">
          <a:xfrm>
            <a:off x="609599" y="5705855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pic>
        <p:nvPicPr>
          <p:cNvPr id="210951746" name=""/>
          <p:cNvPicPr>
            <a:picLocks noChangeAspect="1"/>
          </p:cNvPicPr>
          <p:nvPr/>
        </p:nvPicPr>
        <p:blipFill rotWithShape="1">
          <a:blip r:embed="rId3"/>
          <a:srcRect l="0" t="0" r="0" b="6474"/>
          <a:stretch/>
        </p:blipFill>
        <p:spPr bwMode="auto">
          <a:xfrm flipH="0" flipV="0">
            <a:off x="2457545" y="1564694"/>
            <a:ext cx="7144239" cy="3776775"/>
          </a:xfrm>
          <a:prstGeom prst="rect">
            <a:avLst/>
          </a:prstGeom>
        </p:spPr>
      </p:pic>
      <p:sp>
        <p:nvSpPr>
          <p:cNvPr id="295840140" name=""/>
          <p:cNvSpPr txBox="1"/>
          <p:nvPr/>
        </p:nvSpPr>
        <p:spPr bwMode="auto">
          <a:xfrm rot="0" flipH="0" flipV="0">
            <a:off x="4764411" y="5705854"/>
            <a:ext cx="230064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Figure: DFD level 0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496452" name="Shape 0"/>
          <p:cNvSpPr/>
          <p:nvPr/>
        </p:nvSpPr>
        <p:spPr bwMode="auto">
          <a:xfrm>
            <a:off x="609598" y="426718"/>
            <a:ext cx="609598" cy="60959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59190745" name="Text 1"/>
          <p:cNvSpPr/>
          <p:nvPr/>
        </p:nvSpPr>
        <p:spPr bwMode="auto">
          <a:xfrm>
            <a:off x="609598" y="426718"/>
            <a:ext cx="609598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06</a:t>
            </a:r>
            <a:endParaRPr lang="en-US" sz="1600"/>
          </a:p>
        </p:txBody>
      </p:sp>
      <p:sp>
        <p:nvSpPr>
          <p:cNvPr id="634082835" name="Text 2"/>
          <p:cNvSpPr/>
          <p:nvPr/>
        </p:nvSpPr>
        <p:spPr bwMode="auto">
          <a:xfrm>
            <a:off x="1463040" y="341374"/>
            <a:ext cx="10119358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System Modeling — Data Flow Diagrams</a:t>
            </a:r>
            <a:endParaRPr lang="en-US" sz="2500"/>
          </a:p>
        </p:txBody>
      </p:sp>
      <p:sp>
        <p:nvSpPr>
          <p:cNvPr id="1899684510" name="Text 3"/>
          <p:cNvSpPr/>
          <p:nvPr/>
        </p:nvSpPr>
        <p:spPr bwMode="auto">
          <a:xfrm>
            <a:off x="1463040" y="914400"/>
            <a:ext cx="10119358" cy="39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Context diagram (Level 1)</a:t>
            </a:r>
            <a:endParaRPr lang="en-US" sz="1200"/>
          </a:p>
        </p:txBody>
      </p:sp>
      <p:sp>
        <p:nvSpPr>
          <p:cNvPr id="1940373017" name="Shape 4"/>
          <p:cNvSpPr/>
          <p:nvPr/>
        </p:nvSpPr>
        <p:spPr bwMode="auto">
          <a:xfrm>
            <a:off x="609598" y="1402078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384530743" name="Text 5"/>
          <p:cNvSpPr/>
          <p:nvPr/>
        </p:nvSpPr>
        <p:spPr bwMode="auto">
          <a:xfrm>
            <a:off x="609598" y="6486141"/>
            <a:ext cx="9144000" cy="3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850"/>
          </a:p>
        </p:txBody>
      </p:sp>
      <p:sp>
        <p:nvSpPr>
          <p:cNvPr id="456199896" name="Text 6"/>
          <p:cNvSpPr/>
          <p:nvPr/>
        </p:nvSpPr>
        <p:spPr bwMode="auto">
          <a:xfrm>
            <a:off x="11033758" y="6486141"/>
            <a:ext cx="548640" cy="3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85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7</a:t>
            </a:r>
            <a:endParaRPr lang="en-US" sz="850"/>
          </a:p>
        </p:txBody>
      </p:sp>
      <p:sp>
        <p:nvSpPr>
          <p:cNvPr id="1454602912" name="Shape 34"/>
          <p:cNvSpPr/>
          <p:nvPr/>
        </p:nvSpPr>
        <p:spPr bwMode="auto">
          <a:xfrm>
            <a:off x="609598" y="5705854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436678674" name=""/>
          <p:cNvSpPr txBox="1"/>
          <p:nvPr/>
        </p:nvSpPr>
        <p:spPr bwMode="auto">
          <a:xfrm rot="0" flipH="0" flipV="0">
            <a:off x="4764411" y="6120021"/>
            <a:ext cx="230136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Figure: DFD level 1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20003911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154689" y="1221530"/>
            <a:ext cx="5232957" cy="475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242687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643136728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07</a:t>
            </a:r>
            <a:endParaRPr lang="en-US" sz="2000"/>
          </a:p>
        </p:txBody>
      </p:sp>
      <p:sp>
        <p:nvSpPr>
          <p:cNvPr id="1818342630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System Modeling — UML Diagrams</a:t>
            </a:r>
            <a:endParaRPr lang="en-US" sz="2800"/>
          </a:p>
        </p:txBody>
      </p:sp>
      <p:sp>
        <p:nvSpPr>
          <p:cNvPr id="902052197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11 diagrams covering all architectural views (draw.io format)</a:t>
            </a:r>
            <a:endParaRPr lang="en-US" sz="1800"/>
          </a:p>
        </p:txBody>
      </p:sp>
      <p:sp>
        <p:nvSpPr>
          <p:cNvPr id="2028556417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102786366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200"/>
          </a:p>
        </p:txBody>
      </p:sp>
      <p:sp>
        <p:nvSpPr>
          <p:cNvPr id="1649650670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200"/>
          </a:p>
        </p:txBody>
      </p:sp>
      <p:graphicFrame>
        <p:nvGraphicFramePr>
          <p:cNvPr id="650711172" name="Table 0"/>
          <p:cNvGraphicFramePr>
            <a:graphicFrameLocks xmlns:a="http://schemas.openxmlformats.org/drawingml/2006/main"/>
          </p:cNvGraphicFramePr>
          <p:nvPr/>
        </p:nvGraphicFramePr>
        <p:xfrm rot="0">
          <a:off x="975945" y="1673352"/>
          <a:ext cx="9943044" cy="402335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28586"/>
                <a:gridCol w="4301412"/>
                <a:gridCol w="4813043"/>
              </a:tblGrid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Type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Diagram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Coverage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DFD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Context Diagram (Level 0)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System boundary, 5 external entities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DFD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Level 1 DFD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6 major processes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Use Case Diagram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8 use cases across 4 actor roles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Class Diagram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12 entity classes with relationships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Sequence — Auth &amp; Household Reg.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 &amp; login flow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Sequence — Distribution &amp; Alert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Logging + duplicate detection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Sequence — Need Calculation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Sphere-standard computation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Sequence — Pledge Fulfillment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Multi-source pledge lifecycle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UML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Activity — Relief Flow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End-to-end distribution workflow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Other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Entity Relationship Diagram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12 MongoDB collections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92608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Other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Architecture Diagram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3-tier system overview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295683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080064903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08</a:t>
            </a:r>
            <a:endParaRPr lang="en-US" sz="1800"/>
          </a:p>
        </p:txBody>
      </p:sp>
      <p:sp>
        <p:nvSpPr>
          <p:cNvPr id="1170586199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Database Design &amp; ERD</a:t>
            </a:r>
            <a:endParaRPr lang="en-US" sz="2600"/>
          </a:p>
        </p:txBody>
      </p:sp>
      <p:sp>
        <p:nvSpPr>
          <p:cNvPr id="1704315830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MongoDB — 12 collections, normalized to 3NF</a:t>
            </a:r>
            <a:endParaRPr lang="en-US" sz="1800"/>
          </a:p>
        </p:txBody>
      </p:sp>
      <p:sp>
        <p:nvSpPr>
          <p:cNvPr id="1939223276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581237869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100"/>
          </a:p>
        </p:txBody>
      </p:sp>
      <p:sp>
        <p:nvSpPr>
          <p:cNvPr id="755936825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100"/>
          </a:p>
        </p:txBody>
      </p:sp>
      <p:graphicFrame>
        <p:nvGraphicFramePr>
          <p:cNvPr id="991824769" name="Table 0"/>
          <p:cNvGraphicFramePr>
            <a:graphicFrameLocks xmlns:a="http://schemas.openxmlformats.org/drawingml/2006/main"/>
          </p:cNvGraphicFramePr>
          <p:nvPr/>
        </p:nvGraphicFramePr>
        <p:xfrm rot="0">
          <a:off x="609599" y="1584959"/>
          <a:ext cx="82296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76454"/>
                <a:gridCol w="4842464"/>
                <a:gridCol w="4176624"/>
              </a:tblGrid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Collection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Fields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User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name, email, passwordHash, role, jurisdictionId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Auth &amp; RBAC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GeographicArea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name, level (5-tier), parentId, coordinates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Feni geo hierarchy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Household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headName, NID, GPS, familySize, vulnFlags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Beneficiary registry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DistributionLog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householdId, itemId, quantity, GPS, photoUrl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Aid tracking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ReliefPledge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source_type, areaId, itemCategoryId, qty, status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Multi-source pledges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NeedAssessment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areaId, itemCategoryId, calculated_qty, override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Sphere-standard calc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Inventory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itemCategoryId, totalQuantity, distributedQty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Stock management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Feedback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householdId, category, message, response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Citizen feedback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ReliefRequest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citizenId, items[], priority, status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Aid requests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DuplicateAlert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householdId, priorLog, triggeredLog, resolved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Fraud prevention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SyncConflict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offline_id, changes[], merge_strategy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Offline sync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ItemCategory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name, unit, per_person_per_day_qty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4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Reference data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663333768" name="Text 7"/>
          <p:cNvSpPr/>
          <p:nvPr/>
        </p:nvSpPr>
        <p:spPr bwMode="auto">
          <a:xfrm>
            <a:off x="609599" y="5913119"/>
            <a:ext cx="10972800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Key decisions: </a:t>
            </a: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All schemas normalized to 3NF  ·  2dsphere indexes on GPS for proximity queries  ·  Document references (not embedded) for scalability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48631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382592559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09</a:t>
            </a:r>
            <a:endParaRPr lang="en-US" sz="1800"/>
          </a:p>
        </p:txBody>
      </p:sp>
      <p:sp>
        <p:nvSpPr>
          <p:cNvPr id="1390638208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System Architecture &amp; Tech Stack</a:t>
            </a:r>
            <a:endParaRPr lang="en-US" sz="2600"/>
          </a:p>
        </p:txBody>
      </p:sp>
      <p:sp>
        <p:nvSpPr>
          <p:cNvPr id="1867754092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Offline-first 3-tier architecture — PWA + REST API + MongoDB</a:t>
            </a:r>
            <a:endParaRPr lang="en-US" sz="2000"/>
          </a:p>
        </p:txBody>
      </p:sp>
      <p:sp>
        <p:nvSpPr>
          <p:cNvPr id="2026382051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295343234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200"/>
          </a:p>
        </p:txBody>
      </p:sp>
      <p:sp>
        <p:nvSpPr>
          <p:cNvPr id="1943105754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/>
          </a:p>
        </p:txBody>
      </p:sp>
      <p:sp>
        <p:nvSpPr>
          <p:cNvPr id="8547608" name="Shape 7"/>
          <p:cNvSpPr/>
          <p:nvPr/>
        </p:nvSpPr>
        <p:spPr bwMode="auto">
          <a:xfrm>
            <a:off x="609599" y="1645920"/>
            <a:ext cx="10972800" cy="1036319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185860483" name="Shape 8"/>
          <p:cNvSpPr/>
          <p:nvPr/>
        </p:nvSpPr>
        <p:spPr bwMode="auto">
          <a:xfrm>
            <a:off x="853439" y="1859279"/>
            <a:ext cx="609599" cy="609599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pic>
        <p:nvPicPr>
          <p:cNvPr id="1281676330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11935" y="2017775"/>
            <a:ext cx="292608" cy="292608"/>
          </a:xfrm>
          <a:prstGeom prst="rect">
            <a:avLst/>
          </a:prstGeom>
        </p:spPr>
      </p:pic>
      <p:sp>
        <p:nvSpPr>
          <p:cNvPr id="45292405" name="Text 9"/>
          <p:cNvSpPr/>
          <p:nvPr/>
        </p:nvSpPr>
        <p:spPr bwMode="auto">
          <a:xfrm>
            <a:off x="1767839" y="1767839"/>
            <a:ext cx="2682239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Layer</a:t>
            </a:r>
            <a:endParaRPr lang="en-US" sz="2200"/>
          </a:p>
        </p:txBody>
      </p:sp>
      <p:sp>
        <p:nvSpPr>
          <p:cNvPr id="94936157" name="Text 10"/>
          <p:cNvSpPr/>
          <p:nvPr/>
        </p:nvSpPr>
        <p:spPr bwMode="auto">
          <a:xfrm>
            <a:off x="1767839" y="2157984"/>
            <a:ext cx="9265919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6EEF2"/>
                </a:solidFill>
                <a:latin typeface="Calibri"/>
                <a:ea typeface="Calibri"/>
                <a:cs typeface="Calibri"/>
              </a:rPr>
              <a:t>React 18  ·  localforage (IndexedDB)  ·  Service Worker</a:t>
            </a:r>
            <a:endParaRPr lang="en-US" sz="1600"/>
          </a:p>
        </p:txBody>
      </p:sp>
      <p:sp>
        <p:nvSpPr>
          <p:cNvPr id="941268198" name="Shape 11"/>
          <p:cNvSpPr/>
          <p:nvPr/>
        </p:nvSpPr>
        <p:spPr bwMode="auto">
          <a:xfrm rot="10800000">
            <a:off x="5974079" y="2731007"/>
            <a:ext cx="243839" cy="243839"/>
          </a:xfrm>
          <a:prstGeom prst="rtTriangle">
            <a:avLst/>
          </a:prstGeom>
          <a:solidFill>
            <a:srgbClr val="5B7080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118964617" name="Shape 12"/>
          <p:cNvSpPr/>
          <p:nvPr/>
        </p:nvSpPr>
        <p:spPr bwMode="auto">
          <a:xfrm>
            <a:off x="609599" y="3047999"/>
            <a:ext cx="10972800" cy="1036319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769009951" name="Shape 13"/>
          <p:cNvSpPr/>
          <p:nvPr/>
        </p:nvSpPr>
        <p:spPr bwMode="auto">
          <a:xfrm>
            <a:off x="853439" y="3261358"/>
            <a:ext cx="609599" cy="609599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pic>
        <p:nvPicPr>
          <p:cNvPr id="9993884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11935" y="3419856"/>
            <a:ext cx="292608" cy="292608"/>
          </a:xfrm>
          <a:prstGeom prst="rect">
            <a:avLst/>
          </a:prstGeom>
        </p:spPr>
      </p:pic>
      <p:sp>
        <p:nvSpPr>
          <p:cNvPr id="1415086792" name="Text 14"/>
          <p:cNvSpPr/>
          <p:nvPr/>
        </p:nvSpPr>
        <p:spPr bwMode="auto">
          <a:xfrm>
            <a:off x="1767839" y="3169919"/>
            <a:ext cx="2682239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 Layer</a:t>
            </a:r>
            <a:endParaRPr lang="en-US" sz="2200"/>
          </a:p>
        </p:txBody>
      </p:sp>
      <p:sp>
        <p:nvSpPr>
          <p:cNvPr id="854896852" name="Text 15"/>
          <p:cNvSpPr/>
          <p:nvPr/>
        </p:nvSpPr>
        <p:spPr bwMode="auto">
          <a:xfrm>
            <a:off x="1767839" y="3560063"/>
            <a:ext cx="9265919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6EEF2"/>
                </a:solidFill>
                <a:latin typeface="Calibri"/>
                <a:ea typeface="Calibri"/>
                <a:cs typeface="Calibri"/>
              </a:rPr>
              <a:t>Express.js  ·  14 feature modules  ·  Sync Engine</a:t>
            </a:r>
            <a:endParaRPr lang="en-US" sz="1600"/>
          </a:p>
        </p:txBody>
      </p:sp>
      <p:sp>
        <p:nvSpPr>
          <p:cNvPr id="2144277667" name="Shape 16"/>
          <p:cNvSpPr/>
          <p:nvPr/>
        </p:nvSpPr>
        <p:spPr bwMode="auto">
          <a:xfrm rot="10800000">
            <a:off x="5974079" y="4133088"/>
            <a:ext cx="243839" cy="243839"/>
          </a:xfrm>
          <a:prstGeom prst="rtTriangle">
            <a:avLst/>
          </a:prstGeom>
          <a:solidFill>
            <a:srgbClr val="5B7080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135547728" name="Shape 17"/>
          <p:cNvSpPr/>
          <p:nvPr/>
        </p:nvSpPr>
        <p:spPr bwMode="auto">
          <a:xfrm>
            <a:off x="609599" y="4450079"/>
            <a:ext cx="10972800" cy="1036319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sp>
        <p:nvSpPr>
          <p:cNvPr id="1136038299" name="Shape 18"/>
          <p:cNvSpPr/>
          <p:nvPr/>
        </p:nvSpPr>
        <p:spPr bwMode="auto">
          <a:xfrm>
            <a:off x="853439" y="4663440"/>
            <a:ext cx="609599" cy="609599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 anchor="ctr"/>
          <a:p>
            <a:pPr algn="ctr">
              <a:defRPr/>
            </a:pPr>
            <a:endParaRPr sz="2600"/>
          </a:p>
        </p:txBody>
      </p:sp>
      <p:pic>
        <p:nvPicPr>
          <p:cNvPr id="7826347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11935" y="4821935"/>
            <a:ext cx="292608" cy="292608"/>
          </a:xfrm>
          <a:prstGeom prst="rect">
            <a:avLst/>
          </a:prstGeom>
        </p:spPr>
      </p:pic>
      <p:sp>
        <p:nvSpPr>
          <p:cNvPr id="1653866652" name="Text 19"/>
          <p:cNvSpPr/>
          <p:nvPr/>
        </p:nvSpPr>
        <p:spPr bwMode="auto">
          <a:xfrm>
            <a:off x="1767839" y="4572000"/>
            <a:ext cx="2682239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Layer</a:t>
            </a:r>
            <a:endParaRPr lang="en-US" sz="2200"/>
          </a:p>
        </p:txBody>
      </p:sp>
      <p:sp>
        <p:nvSpPr>
          <p:cNvPr id="1353591972" name="Text 20"/>
          <p:cNvSpPr/>
          <p:nvPr/>
        </p:nvSpPr>
        <p:spPr bwMode="auto">
          <a:xfrm>
            <a:off x="1767839" y="4962143"/>
            <a:ext cx="9265919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6EEF2"/>
                </a:solidFill>
                <a:latin typeface="Calibri"/>
                <a:ea typeface="Calibri"/>
                <a:cs typeface="Calibri"/>
              </a:rPr>
              <a:t>MongoDB Atlas  ·  12 collections  ·  Geo 2dsphere indexes</a:t>
            </a:r>
            <a:endParaRPr lang="en-US" sz="1600"/>
          </a:p>
        </p:txBody>
      </p:sp>
      <p:sp>
        <p:nvSpPr>
          <p:cNvPr id="89569467" name="Text 21"/>
          <p:cNvSpPr/>
          <p:nvPr/>
        </p:nvSpPr>
        <p:spPr bwMode="auto">
          <a:xfrm>
            <a:off x="609599" y="5913119"/>
            <a:ext cx="10972800" cy="548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Key decisions:  </a:t>
            </a:r>
            <a:r>
              <a:rPr lang="en-US" sz="16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Offline-first writes queue in localforage &amp; auto-sync on reconnect  ·  Last-write-wins conflict resolution  ·  Self-seeding DB with Feni data  ·  Role-scoped queries via req.user.jurisdictionId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281166" name="Shape 0"/>
          <p:cNvSpPr/>
          <p:nvPr/>
        </p:nvSpPr>
        <p:spPr bwMode="auto">
          <a:xfrm>
            <a:off x="609598" y="426718"/>
            <a:ext cx="609598" cy="609598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858195866" name="Text 1"/>
          <p:cNvSpPr/>
          <p:nvPr/>
        </p:nvSpPr>
        <p:spPr bwMode="auto">
          <a:xfrm>
            <a:off x="609598" y="426718"/>
            <a:ext cx="609598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09</a:t>
            </a:r>
            <a:endParaRPr lang="en-US" sz="1800"/>
          </a:p>
        </p:txBody>
      </p:sp>
      <p:sp>
        <p:nvSpPr>
          <p:cNvPr id="458179904" name="Text 2"/>
          <p:cNvSpPr/>
          <p:nvPr/>
        </p:nvSpPr>
        <p:spPr bwMode="auto">
          <a:xfrm>
            <a:off x="1463040" y="341374"/>
            <a:ext cx="10119358" cy="609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Heat map</a:t>
            </a:r>
            <a:endParaRPr lang="en-US" sz="2600"/>
          </a:p>
        </p:txBody>
      </p:sp>
      <p:sp>
        <p:nvSpPr>
          <p:cNvPr id="1497490072" name="Shape 4"/>
          <p:cNvSpPr/>
          <p:nvPr/>
        </p:nvSpPr>
        <p:spPr bwMode="auto">
          <a:xfrm>
            <a:off x="609598" y="1402078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958638890" name="Text 5"/>
          <p:cNvSpPr/>
          <p:nvPr/>
        </p:nvSpPr>
        <p:spPr bwMode="auto">
          <a:xfrm>
            <a:off x="609598" y="6486141"/>
            <a:ext cx="9144000" cy="3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200"/>
          </a:p>
        </p:txBody>
      </p:sp>
      <p:sp>
        <p:nvSpPr>
          <p:cNvPr id="730010223" name="Text 6"/>
          <p:cNvSpPr/>
          <p:nvPr/>
        </p:nvSpPr>
        <p:spPr bwMode="auto">
          <a:xfrm>
            <a:off x="11033758" y="6486141"/>
            <a:ext cx="548640" cy="30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200"/>
          </a:p>
        </p:txBody>
      </p:sp>
      <p:pic>
        <p:nvPicPr>
          <p:cNvPr id="652412604" name=""/>
          <p:cNvPicPr>
            <a:picLocks noChangeAspect="1"/>
          </p:cNvPicPr>
          <p:nvPr/>
        </p:nvPicPr>
        <p:blipFill rotWithShape="1">
          <a:blip r:embed="rId3"/>
          <a:srcRect l="0" t="0" r="0" b="18651"/>
          <a:stretch/>
        </p:blipFill>
        <p:spPr bwMode="auto">
          <a:xfrm flipH="0" flipV="0">
            <a:off x="1300203" y="1632832"/>
            <a:ext cx="9789584" cy="3895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005059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136277859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  <a:endParaRPr lang="en-US" sz="1800"/>
          </a:p>
        </p:txBody>
      </p:sp>
      <p:sp>
        <p:nvSpPr>
          <p:cNvPr id="1708855926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UI/UX Design</a:t>
            </a:r>
            <a:endParaRPr lang="en-US" sz="2600"/>
          </a:p>
        </p:txBody>
      </p:sp>
      <p:sp>
        <p:nvSpPr>
          <p:cNvPr id="499973461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Design system, key pages, and interface assets</a:t>
            </a:r>
            <a:endParaRPr lang="en-US" sz="2200"/>
          </a:p>
        </p:txBody>
      </p:sp>
      <p:sp>
        <p:nvSpPr>
          <p:cNvPr id="1071524647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876640919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400"/>
          </a:p>
        </p:txBody>
      </p:sp>
      <p:sp>
        <p:nvSpPr>
          <p:cNvPr id="1470841032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400"/>
          </a:p>
        </p:txBody>
      </p:sp>
      <p:pic>
        <p:nvPicPr>
          <p:cNvPr id="127940853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599" y="1609343"/>
            <a:ext cx="365760" cy="365760"/>
          </a:xfrm>
          <a:prstGeom prst="rect">
            <a:avLst/>
          </a:prstGeom>
        </p:spPr>
      </p:pic>
      <p:sp>
        <p:nvSpPr>
          <p:cNvPr id="290822699" name="Text 7"/>
          <p:cNvSpPr/>
          <p:nvPr/>
        </p:nvSpPr>
        <p:spPr bwMode="auto">
          <a:xfrm>
            <a:off x="1158239" y="1584959"/>
            <a:ext cx="2560320" cy="6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Typography &amp; Color</a:t>
            </a:r>
            <a:endParaRPr lang="en-US" sz="2000"/>
          </a:p>
        </p:txBody>
      </p:sp>
      <p:sp>
        <p:nvSpPr>
          <p:cNvPr id="1025423529" name="Text 8"/>
          <p:cNvSpPr/>
          <p:nvPr/>
        </p:nvSpPr>
        <p:spPr bwMode="auto">
          <a:xfrm>
            <a:off x="3779519" y="1584959"/>
            <a:ext cx="7802879" cy="6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DM Serif Display (headings) + Outfit (body); light/dark themes, blue primary</a:t>
            </a:r>
            <a:endParaRPr lang="en-US" sz="1800"/>
          </a:p>
        </p:txBody>
      </p:sp>
      <p:pic>
        <p:nvPicPr>
          <p:cNvPr id="53477127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" y="2365247"/>
            <a:ext cx="365760" cy="365760"/>
          </a:xfrm>
          <a:prstGeom prst="rect">
            <a:avLst/>
          </a:prstGeom>
        </p:spPr>
      </p:pic>
      <p:sp>
        <p:nvSpPr>
          <p:cNvPr id="1157316338" name="Text 9"/>
          <p:cNvSpPr/>
          <p:nvPr/>
        </p:nvSpPr>
        <p:spPr bwMode="auto">
          <a:xfrm>
            <a:off x="1158239" y="2340864"/>
            <a:ext cx="2560320" cy="6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Spacing &amp; Layout</a:t>
            </a:r>
            <a:endParaRPr lang="en-US" sz="2000"/>
          </a:p>
        </p:txBody>
      </p:sp>
      <p:sp>
        <p:nvSpPr>
          <p:cNvPr id="10535569" name="Text 10"/>
          <p:cNvSpPr/>
          <p:nvPr/>
        </p:nvSpPr>
        <p:spPr bwMode="auto">
          <a:xfrm>
            <a:off x="3779519" y="2340864"/>
            <a:ext cx="7802879" cy="6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4px grid scale; sidebar 260px/64px; 64px topbar; fluid content</a:t>
            </a:r>
            <a:endParaRPr lang="en-US" sz="1800"/>
          </a:p>
        </p:txBody>
      </p:sp>
      <p:sp>
        <p:nvSpPr>
          <p:cNvPr id="763052543" name="Shape 11"/>
          <p:cNvSpPr/>
          <p:nvPr/>
        </p:nvSpPr>
        <p:spPr bwMode="auto">
          <a:xfrm>
            <a:off x="609599" y="3267455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49438100" name="Text 12"/>
          <p:cNvSpPr/>
          <p:nvPr/>
        </p:nvSpPr>
        <p:spPr bwMode="auto">
          <a:xfrm>
            <a:off x="609599" y="3413759"/>
            <a:ext cx="5242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Key Pages</a:t>
            </a:r>
            <a:endParaRPr lang="en-US" sz="2200"/>
          </a:p>
        </p:txBody>
      </p:sp>
      <p:sp>
        <p:nvSpPr>
          <p:cNvPr id="1841361074" name="Shape 13"/>
          <p:cNvSpPr/>
          <p:nvPr/>
        </p:nvSpPr>
        <p:spPr bwMode="auto">
          <a:xfrm>
            <a:off x="609599" y="3840480"/>
            <a:ext cx="5303520" cy="755903"/>
          </a:xfrm>
          <a:prstGeom prst="roundRect">
            <a:avLst>
              <a:gd name="adj" fmla="val 8065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sp>
        <p:nvSpPr>
          <p:cNvPr id="1775429918" name="Text 14"/>
          <p:cNvSpPr/>
          <p:nvPr/>
        </p:nvSpPr>
        <p:spPr bwMode="auto">
          <a:xfrm>
            <a:off x="792479" y="3913632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Landing Page</a:t>
            </a:r>
            <a:endParaRPr lang="en-US" sz="1800"/>
          </a:p>
        </p:txBody>
      </p:sp>
      <p:sp>
        <p:nvSpPr>
          <p:cNvPr id="808506151" name="Text 15"/>
          <p:cNvSpPr/>
          <p:nvPr/>
        </p:nvSpPr>
        <p:spPr bwMode="auto">
          <a:xfrm>
            <a:off x="792479" y="4230623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Public entry — stats, CTA, hero overview</a:t>
            </a:r>
            <a:endParaRPr lang="en-US" sz="1600"/>
          </a:p>
        </p:txBody>
      </p:sp>
      <p:sp>
        <p:nvSpPr>
          <p:cNvPr id="1154156239" name="Shape 16"/>
          <p:cNvSpPr/>
          <p:nvPr/>
        </p:nvSpPr>
        <p:spPr bwMode="auto">
          <a:xfrm>
            <a:off x="6095999" y="3840480"/>
            <a:ext cx="5303520" cy="755903"/>
          </a:xfrm>
          <a:prstGeom prst="roundRect">
            <a:avLst>
              <a:gd name="adj" fmla="val 8065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sp>
        <p:nvSpPr>
          <p:cNvPr id="679610119" name="Text 17"/>
          <p:cNvSpPr/>
          <p:nvPr/>
        </p:nvSpPr>
        <p:spPr bwMode="auto">
          <a:xfrm>
            <a:off x="6278879" y="3913632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Dashboard</a:t>
            </a:r>
            <a:endParaRPr lang="en-US" sz="1800"/>
          </a:p>
        </p:txBody>
      </p:sp>
      <p:sp>
        <p:nvSpPr>
          <p:cNvPr id="638820872" name="Text 18"/>
          <p:cNvSpPr/>
          <p:nvPr/>
        </p:nvSpPr>
        <p:spPr bwMode="auto">
          <a:xfrm>
            <a:off x="6278879" y="4230623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KPI cards, charts, distributions</a:t>
            </a:r>
            <a:endParaRPr lang="en-US" sz="1600"/>
          </a:p>
        </p:txBody>
      </p:sp>
      <p:sp>
        <p:nvSpPr>
          <p:cNvPr id="2109923504" name="Shape 19"/>
          <p:cNvSpPr/>
          <p:nvPr/>
        </p:nvSpPr>
        <p:spPr bwMode="auto">
          <a:xfrm>
            <a:off x="609599" y="4742687"/>
            <a:ext cx="5303520" cy="755903"/>
          </a:xfrm>
          <a:prstGeom prst="roundRect">
            <a:avLst>
              <a:gd name="adj" fmla="val 8065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sp>
        <p:nvSpPr>
          <p:cNvPr id="2069636168" name="Text 20"/>
          <p:cNvSpPr/>
          <p:nvPr/>
        </p:nvSpPr>
        <p:spPr bwMode="auto">
          <a:xfrm>
            <a:off x="792479" y="4815839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Public Dashboard</a:t>
            </a:r>
            <a:endParaRPr lang="en-US" sz="1800"/>
          </a:p>
        </p:txBody>
      </p:sp>
      <p:sp>
        <p:nvSpPr>
          <p:cNvPr id="1434400721" name="Text 21"/>
          <p:cNvSpPr/>
          <p:nvPr/>
        </p:nvSpPr>
        <p:spPr bwMode="auto">
          <a:xfrm>
            <a:off x="792479" y="5132831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Interactive heatmap with drill-down</a:t>
            </a:r>
            <a:endParaRPr lang="en-US" sz="1600"/>
          </a:p>
        </p:txBody>
      </p:sp>
      <p:sp>
        <p:nvSpPr>
          <p:cNvPr id="1904424536" name="Shape 22"/>
          <p:cNvSpPr/>
          <p:nvPr/>
        </p:nvSpPr>
        <p:spPr bwMode="auto">
          <a:xfrm>
            <a:off x="6095999" y="4742687"/>
            <a:ext cx="5303520" cy="755903"/>
          </a:xfrm>
          <a:prstGeom prst="roundRect">
            <a:avLst>
              <a:gd name="adj" fmla="val 8065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sp>
        <p:nvSpPr>
          <p:cNvPr id="2037985513" name="Text 23"/>
          <p:cNvSpPr/>
          <p:nvPr/>
        </p:nvSpPr>
        <p:spPr bwMode="auto">
          <a:xfrm>
            <a:off x="6278879" y="4815839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Households</a:t>
            </a:r>
            <a:endParaRPr lang="en-US" sz="1800"/>
          </a:p>
        </p:txBody>
      </p:sp>
      <p:sp>
        <p:nvSpPr>
          <p:cNvPr id="386896647" name="Text 24"/>
          <p:cNvSpPr/>
          <p:nvPr/>
        </p:nvSpPr>
        <p:spPr bwMode="auto">
          <a:xfrm>
            <a:off x="6278879" y="5132831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Table, search, photo capture</a:t>
            </a:r>
            <a:endParaRPr lang="en-US" sz="1600"/>
          </a:p>
        </p:txBody>
      </p:sp>
      <p:sp>
        <p:nvSpPr>
          <p:cNvPr id="1795890265" name="Shape 25"/>
          <p:cNvSpPr/>
          <p:nvPr/>
        </p:nvSpPr>
        <p:spPr bwMode="auto">
          <a:xfrm>
            <a:off x="609599" y="5644895"/>
            <a:ext cx="5303520" cy="755903"/>
          </a:xfrm>
          <a:prstGeom prst="roundRect">
            <a:avLst>
              <a:gd name="adj" fmla="val 8065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sp>
        <p:nvSpPr>
          <p:cNvPr id="1365144342" name="Text 26"/>
          <p:cNvSpPr/>
          <p:nvPr/>
        </p:nvSpPr>
        <p:spPr bwMode="auto">
          <a:xfrm>
            <a:off x="792479" y="5718047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Distributions</a:t>
            </a:r>
            <a:endParaRPr lang="en-US" sz="1800"/>
          </a:p>
        </p:txBody>
      </p:sp>
      <p:sp>
        <p:nvSpPr>
          <p:cNvPr id="1616672527" name="Text 27"/>
          <p:cNvSpPr/>
          <p:nvPr/>
        </p:nvSpPr>
        <p:spPr bwMode="auto">
          <a:xfrm>
            <a:off x="792479" y="6035039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Item logging, GPS upload</a:t>
            </a:r>
            <a:endParaRPr lang="en-US" sz="1600"/>
          </a:p>
        </p:txBody>
      </p:sp>
      <p:sp>
        <p:nvSpPr>
          <p:cNvPr id="735321900" name="Shape 28"/>
          <p:cNvSpPr/>
          <p:nvPr/>
        </p:nvSpPr>
        <p:spPr bwMode="auto">
          <a:xfrm>
            <a:off x="6095999" y="5644895"/>
            <a:ext cx="5303520" cy="755903"/>
          </a:xfrm>
          <a:prstGeom prst="roundRect">
            <a:avLst>
              <a:gd name="adj" fmla="val 8065"/>
            </a:avLst>
          </a:prstGeom>
          <a:solidFill>
            <a:srgbClr val="F2F7FA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sp>
        <p:nvSpPr>
          <p:cNvPr id="1424487475" name="Text 29"/>
          <p:cNvSpPr/>
          <p:nvPr/>
        </p:nvSpPr>
        <p:spPr bwMode="auto">
          <a:xfrm>
            <a:off x="6278879" y="5718047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Need Dashboard</a:t>
            </a:r>
            <a:endParaRPr lang="en-US" sz="1800"/>
          </a:p>
        </p:txBody>
      </p:sp>
      <p:sp>
        <p:nvSpPr>
          <p:cNvPr id="1247365167" name="Text 30"/>
          <p:cNvSpPr/>
          <p:nvPr/>
        </p:nvSpPr>
        <p:spPr bwMode="auto">
          <a:xfrm>
            <a:off x="6278879" y="6035039"/>
            <a:ext cx="49377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Sphere-calc vs. actual comparison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667829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110844517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11</a:t>
            </a:r>
            <a:endParaRPr lang="en-US" sz="1800"/>
          </a:p>
        </p:txBody>
      </p:sp>
      <p:sp>
        <p:nvSpPr>
          <p:cNvPr id="497858735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Implementation Plan</a:t>
            </a:r>
            <a:endParaRPr lang="en-US" sz="2600"/>
          </a:p>
        </p:txBody>
      </p:sp>
      <p:sp>
        <p:nvSpPr>
          <p:cNvPr id="1173892440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30 modules across 6 phases — Agile weekly sprints, 3-week cycle</a:t>
            </a:r>
            <a:endParaRPr lang="en-US" sz="1600"/>
          </a:p>
        </p:txBody>
      </p:sp>
      <p:sp>
        <p:nvSpPr>
          <p:cNvPr id="162161087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824984172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000"/>
          </a:p>
        </p:txBody>
      </p:sp>
      <p:sp>
        <p:nvSpPr>
          <p:cNvPr id="1771962902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1000"/>
          </a:p>
        </p:txBody>
      </p:sp>
      <p:sp>
        <p:nvSpPr>
          <p:cNvPr id="770561581" name="Shape 7"/>
          <p:cNvSpPr/>
          <p:nvPr/>
        </p:nvSpPr>
        <p:spPr bwMode="auto">
          <a:xfrm>
            <a:off x="609599" y="1609343"/>
            <a:ext cx="3535679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5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352688466" name="Shape 8"/>
          <p:cNvSpPr/>
          <p:nvPr/>
        </p:nvSpPr>
        <p:spPr bwMode="auto">
          <a:xfrm>
            <a:off x="780287" y="1780031"/>
            <a:ext cx="487679" cy="487679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779396255" name="Text 9"/>
          <p:cNvSpPr/>
          <p:nvPr/>
        </p:nvSpPr>
        <p:spPr bwMode="auto">
          <a:xfrm>
            <a:off x="780287" y="1780031"/>
            <a:ext cx="48767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800"/>
          </a:p>
        </p:txBody>
      </p:sp>
      <p:sp>
        <p:nvSpPr>
          <p:cNvPr id="1108162107" name="Text 10"/>
          <p:cNvSpPr/>
          <p:nvPr/>
        </p:nvSpPr>
        <p:spPr bwMode="auto">
          <a:xfrm>
            <a:off x="2743200" y="1828800"/>
            <a:ext cx="121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M1–M6</a:t>
            </a:r>
            <a:endParaRPr lang="en-US" sz="1100"/>
          </a:p>
        </p:txBody>
      </p:sp>
      <p:sp>
        <p:nvSpPr>
          <p:cNvPr id="1261085885" name="Text 11"/>
          <p:cNvSpPr/>
          <p:nvPr/>
        </p:nvSpPr>
        <p:spPr bwMode="auto">
          <a:xfrm>
            <a:off x="780287" y="2365247"/>
            <a:ext cx="3194303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Data Model &amp; Foundation</a:t>
            </a:r>
            <a:endParaRPr lang="en-US" sz="1600"/>
          </a:p>
        </p:txBody>
      </p:sp>
      <p:sp>
        <p:nvSpPr>
          <p:cNvPr id="147821322" name="Text 12"/>
          <p:cNvSpPr/>
          <p:nvPr/>
        </p:nvSpPr>
        <p:spPr bwMode="auto">
          <a:xfrm>
            <a:off x="780287" y="2804159"/>
            <a:ext cx="3194303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Scaffold, auth, geo hierarchy, DB seed, frontend setup</a:t>
            </a:r>
            <a:endParaRPr lang="en-US" sz="1100"/>
          </a:p>
        </p:txBody>
      </p:sp>
      <p:sp>
        <p:nvSpPr>
          <p:cNvPr id="1677520187" name="Shape 13"/>
          <p:cNvSpPr/>
          <p:nvPr/>
        </p:nvSpPr>
        <p:spPr bwMode="auto">
          <a:xfrm>
            <a:off x="4309871" y="1609343"/>
            <a:ext cx="3535679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5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913818106" name="Shape 14"/>
          <p:cNvSpPr/>
          <p:nvPr/>
        </p:nvSpPr>
        <p:spPr bwMode="auto">
          <a:xfrm>
            <a:off x="4480560" y="1780031"/>
            <a:ext cx="487679" cy="487679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699606106" name="Text 15"/>
          <p:cNvSpPr/>
          <p:nvPr/>
        </p:nvSpPr>
        <p:spPr bwMode="auto">
          <a:xfrm>
            <a:off x="4480560" y="1780031"/>
            <a:ext cx="48767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800"/>
          </a:p>
        </p:txBody>
      </p:sp>
      <p:sp>
        <p:nvSpPr>
          <p:cNvPr id="128105133" name="Text 16"/>
          <p:cNvSpPr/>
          <p:nvPr/>
        </p:nvSpPr>
        <p:spPr bwMode="auto">
          <a:xfrm>
            <a:off x="6443471" y="1828800"/>
            <a:ext cx="121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M7–M12</a:t>
            </a:r>
            <a:endParaRPr lang="en-US" sz="1100"/>
          </a:p>
        </p:txBody>
      </p:sp>
      <p:sp>
        <p:nvSpPr>
          <p:cNvPr id="1060939092" name="Text 17"/>
          <p:cNvSpPr/>
          <p:nvPr/>
        </p:nvSpPr>
        <p:spPr bwMode="auto">
          <a:xfrm>
            <a:off x="4480560" y="2365247"/>
            <a:ext cx="3194303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Core Operations</a:t>
            </a:r>
            <a:endParaRPr lang="en-US" sz="1600"/>
          </a:p>
        </p:txBody>
      </p:sp>
      <p:sp>
        <p:nvSpPr>
          <p:cNvPr id="1045471410" name="Text 18"/>
          <p:cNvSpPr/>
          <p:nvPr/>
        </p:nvSpPr>
        <p:spPr bwMode="auto">
          <a:xfrm>
            <a:off x="4480560" y="2804159"/>
            <a:ext cx="3194303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Household CRUD, distribution, alerts, inventory, feedback</a:t>
            </a:r>
            <a:endParaRPr lang="en-US" sz="1100"/>
          </a:p>
        </p:txBody>
      </p:sp>
      <p:sp>
        <p:nvSpPr>
          <p:cNvPr id="1824690474" name="Shape 19"/>
          <p:cNvSpPr/>
          <p:nvPr/>
        </p:nvSpPr>
        <p:spPr bwMode="auto">
          <a:xfrm>
            <a:off x="8010142" y="1609343"/>
            <a:ext cx="3535679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5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630953693" name="Shape 20"/>
          <p:cNvSpPr/>
          <p:nvPr/>
        </p:nvSpPr>
        <p:spPr bwMode="auto">
          <a:xfrm>
            <a:off x="8180831" y="1780031"/>
            <a:ext cx="487679" cy="487679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33891306" name="Text 21"/>
          <p:cNvSpPr/>
          <p:nvPr/>
        </p:nvSpPr>
        <p:spPr bwMode="auto">
          <a:xfrm>
            <a:off x="8180831" y="1780031"/>
            <a:ext cx="48767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800"/>
          </a:p>
        </p:txBody>
      </p:sp>
      <p:sp>
        <p:nvSpPr>
          <p:cNvPr id="1980793607" name="Text 22"/>
          <p:cNvSpPr/>
          <p:nvPr/>
        </p:nvSpPr>
        <p:spPr bwMode="auto">
          <a:xfrm>
            <a:off x="10143743" y="1828800"/>
            <a:ext cx="121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M13–M18</a:t>
            </a:r>
            <a:endParaRPr lang="en-US" sz="1100"/>
          </a:p>
        </p:txBody>
      </p:sp>
      <p:sp>
        <p:nvSpPr>
          <p:cNvPr id="79345208" name="Text 23"/>
          <p:cNvSpPr/>
          <p:nvPr/>
        </p:nvSpPr>
        <p:spPr bwMode="auto">
          <a:xfrm>
            <a:off x="8180831" y="2365247"/>
            <a:ext cx="3194303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Need &amp; Pledge Module</a:t>
            </a:r>
            <a:endParaRPr lang="en-US" sz="1600"/>
          </a:p>
        </p:txBody>
      </p:sp>
      <p:sp>
        <p:nvSpPr>
          <p:cNvPr id="481861577" name="Text 24"/>
          <p:cNvSpPr/>
          <p:nvPr/>
        </p:nvSpPr>
        <p:spPr bwMode="auto">
          <a:xfrm>
            <a:off x="8180831" y="2804159"/>
            <a:ext cx="3194303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Sphere need engine, pledge lifecycle, reports, heatmap</a:t>
            </a:r>
            <a:endParaRPr lang="en-US" sz="1100"/>
          </a:p>
        </p:txBody>
      </p:sp>
      <p:sp>
        <p:nvSpPr>
          <p:cNvPr id="1655910781" name="Shape 25"/>
          <p:cNvSpPr/>
          <p:nvPr/>
        </p:nvSpPr>
        <p:spPr bwMode="auto">
          <a:xfrm>
            <a:off x="609599" y="3681983"/>
            <a:ext cx="3535679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5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07915060" name="Shape 26"/>
          <p:cNvSpPr/>
          <p:nvPr/>
        </p:nvSpPr>
        <p:spPr bwMode="auto">
          <a:xfrm>
            <a:off x="780287" y="3852671"/>
            <a:ext cx="487679" cy="487679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040158734" name="Text 27"/>
          <p:cNvSpPr/>
          <p:nvPr/>
        </p:nvSpPr>
        <p:spPr bwMode="auto">
          <a:xfrm>
            <a:off x="780287" y="3852671"/>
            <a:ext cx="48767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800"/>
          </a:p>
        </p:txBody>
      </p:sp>
      <p:sp>
        <p:nvSpPr>
          <p:cNvPr id="2011973213" name="Text 28"/>
          <p:cNvSpPr/>
          <p:nvPr/>
        </p:nvSpPr>
        <p:spPr bwMode="auto">
          <a:xfrm>
            <a:off x="2743200" y="3901439"/>
            <a:ext cx="121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M19–M23</a:t>
            </a:r>
            <a:endParaRPr lang="en-US" sz="1100"/>
          </a:p>
        </p:txBody>
      </p:sp>
      <p:sp>
        <p:nvSpPr>
          <p:cNvPr id="2045514262" name="Text 29"/>
          <p:cNvSpPr/>
          <p:nvPr/>
        </p:nvSpPr>
        <p:spPr bwMode="auto">
          <a:xfrm>
            <a:off x="780287" y="4437887"/>
            <a:ext cx="3194303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Public Interface</a:t>
            </a:r>
            <a:endParaRPr lang="en-US" sz="1600"/>
          </a:p>
        </p:txBody>
      </p:sp>
      <p:sp>
        <p:nvSpPr>
          <p:cNvPr id="1473984458" name="Text 30"/>
          <p:cNvSpPr/>
          <p:nvPr/>
        </p:nvSpPr>
        <p:spPr bwMode="auto">
          <a:xfrm>
            <a:off x="780287" y="4876799"/>
            <a:ext cx="3194303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Landing page, public dashboard, citizen feedback/requests</a:t>
            </a:r>
            <a:endParaRPr lang="en-US" sz="1100"/>
          </a:p>
        </p:txBody>
      </p:sp>
      <p:sp>
        <p:nvSpPr>
          <p:cNvPr id="178525219" name="Shape 31"/>
          <p:cNvSpPr/>
          <p:nvPr/>
        </p:nvSpPr>
        <p:spPr bwMode="auto">
          <a:xfrm>
            <a:off x="4309871" y="3681983"/>
            <a:ext cx="3535679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5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1824020982" name="Shape 32"/>
          <p:cNvSpPr/>
          <p:nvPr/>
        </p:nvSpPr>
        <p:spPr bwMode="auto">
          <a:xfrm>
            <a:off x="4480560" y="3852671"/>
            <a:ext cx="487679" cy="487679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756579196" name="Text 33"/>
          <p:cNvSpPr/>
          <p:nvPr/>
        </p:nvSpPr>
        <p:spPr bwMode="auto">
          <a:xfrm>
            <a:off x="4480560" y="3852671"/>
            <a:ext cx="48767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1800"/>
          </a:p>
        </p:txBody>
      </p:sp>
      <p:sp>
        <p:nvSpPr>
          <p:cNvPr id="893210867" name="Text 34"/>
          <p:cNvSpPr/>
          <p:nvPr/>
        </p:nvSpPr>
        <p:spPr bwMode="auto">
          <a:xfrm>
            <a:off x="6443471" y="3901439"/>
            <a:ext cx="121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M24–M27</a:t>
            </a:r>
            <a:endParaRPr lang="en-US" sz="1100"/>
          </a:p>
        </p:txBody>
      </p:sp>
      <p:sp>
        <p:nvSpPr>
          <p:cNvPr id="1376973000" name="Text 35"/>
          <p:cNvSpPr/>
          <p:nvPr/>
        </p:nvSpPr>
        <p:spPr bwMode="auto">
          <a:xfrm>
            <a:off x="4480560" y="4437887"/>
            <a:ext cx="3194303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Offline &amp; Sync</a:t>
            </a:r>
            <a:endParaRPr lang="en-US" sz="1600"/>
          </a:p>
        </p:txBody>
      </p:sp>
      <p:sp>
        <p:nvSpPr>
          <p:cNvPr id="633059950" name="Text 36"/>
          <p:cNvSpPr/>
          <p:nvPr/>
        </p:nvSpPr>
        <p:spPr bwMode="auto">
          <a:xfrm>
            <a:off x="4480560" y="4876799"/>
            <a:ext cx="3194303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Offline queue, push/pull sync, service worker, PWA manifest</a:t>
            </a:r>
            <a:endParaRPr lang="en-US" sz="1100"/>
          </a:p>
        </p:txBody>
      </p:sp>
      <p:sp>
        <p:nvSpPr>
          <p:cNvPr id="1611162152" name="Shape 37"/>
          <p:cNvSpPr/>
          <p:nvPr/>
        </p:nvSpPr>
        <p:spPr bwMode="auto">
          <a:xfrm>
            <a:off x="8010142" y="3681983"/>
            <a:ext cx="3535679" cy="1889759"/>
          </a:xfrm>
          <a:prstGeom prst="roundRect">
            <a:avLst>
              <a:gd name="adj" fmla="val 3871"/>
            </a:avLst>
          </a:prstGeom>
          <a:solidFill>
            <a:srgbClr val="F2F7FA"/>
          </a:solidFill>
          <a:ln/>
          <a:effectLst>
            <a:outerShdw blurRad="50800" dist="12700" dir="5400000" sx="100000" sy="100000" kx="0" ky="0" algn="bl" rotWithShape="0">
              <a:srgbClr val="9AAEBB">
                <a:alpha val="15000"/>
              </a:srgbClr>
            </a:outerShdw>
          </a:effectLst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571375567" name="Shape 38"/>
          <p:cNvSpPr/>
          <p:nvPr/>
        </p:nvSpPr>
        <p:spPr bwMode="auto">
          <a:xfrm>
            <a:off x="8180831" y="3852671"/>
            <a:ext cx="487679" cy="487679"/>
          </a:xfrm>
          <a:prstGeom prst="ellipse">
            <a:avLst/>
          </a:prstGeom>
          <a:solidFill>
            <a:srgbClr val="065A82"/>
          </a:solidFill>
          <a:ln/>
        </p:spPr>
        <p:txBody>
          <a:bodyPr anchor="ctr"/>
          <a:p>
            <a:pPr algn="ctr">
              <a:defRPr/>
            </a:pPr>
            <a:endParaRPr sz="2200"/>
          </a:p>
        </p:txBody>
      </p:sp>
      <p:sp>
        <p:nvSpPr>
          <p:cNvPr id="444767749" name="Text 39"/>
          <p:cNvSpPr/>
          <p:nvPr/>
        </p:nvSpPr>
        <p:spPr bwMode="auto">
          <a:xfrm>
            <a:off x="8180831" y="3852671"/>
            <a:ext cx="487679" cy="487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800"/>
          </a:p>
        </p:txBody>
      </p:sp>
      <p:sp>
        <p:nvSpPr>
          <p:cNvPr id="1708399322" name="Text 40"/>
          <p:cNvSpPr/>
          <p:nvPr/>
        </p:nvSpPr>
        <p:spPr bwMode="auto">
          <a:xfrm>
            <a:off x="10143743" y="3901439"/>
            <a:ext cx="121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M28–M30</a:t>
            </a:r>
            <a:endParaRPr lang="en-US" sz="1100"/>
          </a:p>
        </p:txBody>
      </p:sp>
      <p:sp>
        <p:nvSpPr>
          <p:cNvPr id="1231100058" name="Text 41"/>
          <p:cNvSpPr/>
          <p:nvPr/>
        </p:nvSpPr>
        <p:spPr bwMode="auto">
          <a:xfrm>
            <a:off x="8180831" y="4437887"/>
            <a:ext cx="3194303" cy="426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Testing &amp; Docs</a:t>
            </a:r>
            <a:endParaRPr lang="en-US" sz="1600"/>
          </a:p>
        </p:txBody>
      </p:sp>
      <p:sp>
        <p:nvSpPr>
          <p:cNvPr id="684891447" name="Text 42"/>
          <p:cNvSpPr/>
          <p:nvPr/>
        </p:nvSpPr>
        <p:spPr bwMode="auto">
          <a:xfrm>
            <a:off x="8180831" y="4876799"/>
            <a:ext cx="3194303" cy="6339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Integration tests, security audit, documentation</a:t>
            </a:r>
            <a:endParaRPr lang="en-US" sz="1100"/>
          </a:p>
        </p:txBody>
      </p:sp>
      <p:sp>
        <p:nvSpPr>
          <p:cNvPr id="1806843463" name="Text 43"/>
          <p:cNvSpPr/>
          <p:nvPr/>
        </p:nvSpPr>
        <p:spPr bwMode="auto">
          <a:xfrm>
            <a:off x="609599" y="6035039"/>
            <a:ext cx="10972800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Methodology:  </a:t>
            </a:r>
            <a:r>
              <a:rPr lang="en-US" sz="12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Agile with weekly sprints  ·  Git feature branching  ·  ESLint + Prettier  ·  Peer code reviews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405155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071473937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12</a:t>
            </a:r>
            <a:endParaRPr lang="en-US" sz="1800"/>
          </a:p>
        </p:txBody>
      </p:sp>
      <p:sp>
        <p:nvSpPr>
          <p:cNvPr id="353823676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Testing &amp; Quality Assurance</a:t>
            </a:r>
            <a:endParaRPr lang="en-US" sz="2600"/>
          </a:p>
        </p:txBody>
      </p:sp>
      <p:sp>
        <p:nvSpPr>
          <p:cNvPr id="448113748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47/47 tests passing — Unit, Integration &amp; UAT (Jest + Supertest)</a:t>
            </a:r>
            <a:endParaRPr lang="en-US" sz="2000"/>
          </a:p>
        </p:txBody>
      </p:sp>
      <p:sp>
        <p:nvSpPr>
          <p:cNvPr id="1259931176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293649108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400"/>
          </a:p>
        </p:txBody>
      </p:sp>
      <p:sp>
        <p:nvSpPr>
          <p:cNvPr id="795499856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1400"/>
          </a:p>
        </p:txBody>
      </p:sp>
      <p:sp>
        <p:nvSpPr>
          <p:cNvPr id="739890131" name="Shape 7"/>
          <p:cNvSpPr/>
          <p:nvPr/>
        </p:nvSpPr>
        <p:spPr bwMode="auto">
          <a:xfrm>
            <a:off x="609599" y="1609343"/>
            <a:ext cx="2596894" cy="1219199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31211025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4672" y="1804415"/>
            <a:ext cx="365760" cy="365760"/>
          </a:xfrm>
          <a:prstGeom prst="rect">
            <a:avLst/>
          </a:prstGeom>
        </p:spPr>
      </p:pic>
      <p:sp>
        <p:nvSpPr>
          <p:cNvPr id="913141040" name="Text 8"/>
          <p:cNvSpPr/>
          <p:nvPr/>
        </p:nvSpPr>
        <p:spPr bwMode="auto">
          <a:xfrm>
            <a:off x="1280160" y="1706879"/>
            <a:ext cx="1804415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28</a:t>
            </a:r>
            <a:endParaRPr lang="en-US" sz="2800"/>
          </a:p>
        </p:txBody>
      </p:sp>
      <p:sp>
        <p:nvSpPr>
          <p:cNvPr id="166119390" name="Text 9"/>
          <p:cNvSpPr/>
          <p:nvPr/>
        </p:nvSpPr>
        <p:spPr bwMode="auto">
          <a:xfrm>
            <a:off x="1280160" y="2170175"/>
            <a:ext cx="1804415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DCE9EF"/>
                </a:solidFill>
                <a:latin typeface="Calibri"/>
                <a:ea typeface="Calibri"/>
                <a:cs typeface="Calibri"/>
              </a:rPr>
              <a:t>Unit Tests</a:t>
            </a:r>
            <a:endParaRPr lang="en-US" sz="1600"/>
          </a:p>
        </p:txBody>
      </p:sp>
      <p:sp>
        <p:nvSpPr>
          <p:cNvPr id="734727433" name="Shape 10"/>
          <p:cNvSpPr/>
          <p:nvPr/>
        </p:nvSpPr>
        <p:spPr bwMode="auto">
          <a:xfrm>
            <a:off x="3377183" y="1609343"/>
            <a:ext cx="2596894" cy="1219199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8740312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72255" y="1804415"/>
            <a:ext cx="365760" cy="365760"/>
          </a:xfrm>
          <a:prstGeom prst="rect">
            <a:avLst/>
          </a:prstGeom>
        </p:spPr>
      </p:pic>
      <p:sp>
        <p:nvSpPr>
          <p:cNvPr id="1965492794" name="Text 11"/>
          <p:cNvSpPr/>
          <p:nvPr/>
        </p:nvSpPr>
        <p:spPr bwMode="auto">
          <a:xfrm>
            <a:off x="4047743" y="1706879"/>
            <a:ext cx="1804415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lang="en-US" sz="2800"/>
          </a:p>
        </p:txBody>
      </p:sp>
      <p:sp>
        <p:nvSpPr>
          <p:cNvPr id="480135733" name="Text 12"/>
          <p:cNvSpPr/>
          <p:nvPr/>
        </p:nvSpPr>
        <p:spPr bwMode="auto">
          <a:xfrm>
            <a:off x="4047743" y="2170175"/>
            <a:ext cx="1804415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DCE9EF"/>
                </a:solidFill>
                <a:latin typeface="Calibri"/>
                <a:ea typeface="Calibri"/>
                <a:cs typeface="Calibri"/>
              </a:rPr>
              <a:t>Integration Tests</a:t>
            </a:r>
            <a:endParaRPr lang="en-US" sz="1600"/>
          </a:p>
        </p:txBody>
      </p:sp>
      <p:sp>
        <p:nvSpPr>
          <p:cNvPr id="1415322561" name="Shape 13"/>
          <p:cNvSpPr/>
          <p:nvPr/>
        </p:nvSpPr>
        <p:spPr bwMode="auto">
          <a:xfrm>
            <a:off x="6144768" y="1609343"/>
            <a:ext cx="2596894" cy="1219199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194306563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39839" y="1804415"/>
            <a:ext cx="365760" cy="365760"/>
          </a:xfrm>
          <a:prstGeom prst="rect">
            <a:avLst/>
          </a:prstGeom>
        </p:spPr>
      </p:pic>
      <p:sp>
        <p:nvSpPr>
          <p:cNvPr id="1566147135" name="Text 14"/>
          <p:cNvSpPr/>
          <p:nvPr/>
        </p:nvSpPr>
        <p:spPr bwMode="auto">
          <a:xfrm>
            <a:off x="6815327" y="1706879"/>
            <a:ext cx="1804415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lang="en-US" sz="2800"/>
          </a:p>
        </p:txBody>
      </p:sp>
      <p:sp>
        <p:nvSpPr>
          <p:cNvPr id="149617074" name="Text 15"/>
          <p:cNvSpPr/>
          <p:nvPr/>
        </p:nvSpPr>
        <p:spPr bwMode="auto">
          <a:xfrm>
            <a:off x="6815327" y="2170175"/>
            <a:ext cx="1804415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DCE9EF"/>
                </a:solidFill>
                <a:latin typeface="Calibri"/>
                <a:ea typeface="Calibri"/>
                <a:cs typeface="Calibri"/>
              </a:rPr>
              <a:t>UAT Scenarios</a:t>
            </a:r>
            <a:endParaRPr lang="en-US" sz="1600"/>
          </a:p>
        </p:txBody>
      </p:sp>
      <p:sp>
        <p:nvSpPr>
          <p:cNvPr id="270368917" name="Shape 16"/>
          <p:cNvSpPr/>
          <p:nvPr/>
        </p:nvSpPr>
        <p:spPr bwMode="auto">
          <a:xfrm>
            <a:off x="8912351" y="1609343"/>
            <a:ext cx="2596894" cy="1219199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  <p:txBody>
          <a:bodyPr anchor="ctr"/>
          <a:p>
            <a:pPr algn="ctr">
              <a:defRPr/>
            </a:pPr>
            <a:endParaRPr sz="2800"/>
          </a:p>
        </p:txBody>
      </p:sp>
      <p:pic>
        <p:nvPicPr>
          <p:cNvPr id="1745484225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107424" y="1804415"/>
            <a:ext cx="365760" cy="365760"/>
          </a:xfrm>
          <a:prstGeom prst="rect">
            <a:avLst/>
          </a:prstGeom>
        </p:spPr>
      </p:pic>
      <p:sp>
        <p:nvSpPr>
          <p:cNvPr id="785068183" name="Text 17"/>
          <p:cNvSpPr/>
          <p:nvPr/>
        </p:nvSpPr>
        <p:spPr bwMode="auto">
          <a:xfrm>
            <a:off x="9582912" y="1706879"/>
            <a:ext cx="1804415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47/47</a:t>
            </a:r>
            <a:endParaRPr lang="en-US" sz="2800"/>
          </a:p>
        </p:txBody>
      </p:sp>
      <p:sp>
        <p:nvSpPr>
          <p:cNvPr id="2055509122" name="Text 18"/>
          <p:cNvSpPr/>
          <p:nvPr/>
        </p:nvSpPr>
        <p:spPr bwMode="auto">
          <a:xfrm>
            <a:off x="9582912" y="2170175"/>
            <a:ext cx="1804415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DCE9EF"/>
                </a:solidFill>
                <a:latin typeface="Calibri"/>
                <a:ea typeface="Calibri"/>
                <a:cs typeface="Calibri"/>
              </a:rPr>
              <a:t>All Passing</a:t>
            </a:r>
            <a:endParaRPr lang="en-US" sz="1600"/>
          </a:p>
        </p:txBody>
      </p:sp>
      <p:graphicFrame>
        <p:nvGraphicFramePr>
          <p:cNvPr id="2136583124" name="Table 0"/>
          <p:cNvGraphicFramePr>
            <a:graphicFrameLocks xmlns:a="http://schemas.openxmlformats.org/drawingml/2006/main"/>
          </p:cNvGraphicFramePr>
          <p:nvPr/>
        </p:nvGraphicFramePr>
        <p:xfrm rot="0">
          <a:off x="1908047" y="3108959"/>
          <a:ext cx="8229600" cy="298703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45920"/>
                <a:gridCol w="640080"/>
                <a:gridCol w="5943600"/>
              </a:tblGrid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Tests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Coverage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Auth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Register, login, token, invalid credentials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Household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CRUD, NID validation, GPS validation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Distribution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CRUD, GPS/quantity validation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Feedback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Submit, list, respond, moderation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Sync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Offline push, pull, conflict resolution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Reports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PDF generation, CSV export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Alerts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>
                          <a:solidFill>
                            <a:srgbClr val="1B2A38"/>
                          </a:solidFill>
                          <a:latin typeface="Calibri"/>
                          <a:ea typeface="Calibri"/>
                          <a:cs typeface="Calibri"/>
                        </a:rPr>
                        <a:t>7-day duplicate detection window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1714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813313802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</a:t>
            </a:r>
            <a:endParaRPr lang="en-US" sz="1800"/>
          </a:p>
        </p:txBody>
      </p:sp>
      <p:sp>
        <p:nvSpPr>
          <p:cNvPr id="525143750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Security &amp; Access Control</a:t>
            </a:r>
            <a:endParaRPr lang="en-US" sz="2600"/>
          </a:p>
        </p:txBody>
      </p:sp>
      <p:sp>
        <p:nvSpPr>
          <p:cNvPr id="362868236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STRIDE threat model · JWT auth · RBAC across 6 roles</a:t>
            </a:r>
            <a:endParaRPr lang="en-US" sz="2000"/>
          </a:p>
        </p:txBody>
      </p:sp>
      <p:sp>
        <p:nvSpPr>
          <p:cNvPr id="1554092409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510990597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200"/>
          </a:p>
        </p:txBody>
      </p:sp>
      <p:sp>
        <p:nvSpPr>
          <p:cNvPr id="692719882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14</a:t>
            </a:r>
            <a:endParaRPr lang="en-US" sz="1200"/>
          </a:p>
        </p:txBody>
      </p:sp>
      <p:graphicFrame>
        <p:nvGraphicFramePr>
          <p:cNvPr id="2105891877" name="Table 0"/>
          <p:cNvGraphicFramePr>
            <a:graphicFrameLocks xmlns:a="http://schemas.openxmlformats.org/drawingml/2006/main"/>
          </p:cNvGraphicFramePr>
          <p:nvPr/>
        </p:nvGraphicFramePr>
        <p:xfrm rot="0">
          <a:off x="609599" y="1609343"/>
          <a:ext cx="484632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371600"/>
                <a:gridCol w="576072"/>
                <a:gridCol w="576072"/>
                <a:gridCol w="576072"/>
                <a:gridCol w="576072"/>
                <a:gridCol w="576072"/>
                <a:gridCol w="576072"/>
              </a:tblGrid>
              <a:tr h="347472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Permission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Admin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UNO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UP Official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NGO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Citizen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Anon.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</a:rPr>
                        <a:t>User Mgmt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</a:rPr>
                        <a:t>Household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</a:rPr>
                        <a:t>Distribution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</a:rPr>
                        <a:t>Reports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600" b="1">
                          <a:solidFill>
                            <a:srgbClr val="21295C"/>
                          </a:solidFill>
                          <a:latin typeface="Calibri"/>
                          <a:ea typeface="Calibri"/>
                          <a:cs typeface="Calibri"/>
                        </a:rPr>
                        <a:t>Public Dash.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C4CDD3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800" b="1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</a:rPr>
                        <a:t>✓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6349" algn="ctr">
                      <a:solidFill>
                        <a:srgbClr val="DCE6EA"/>
                      </a:solidFill>
                    </a:lnL>
                    <a:lnR w="6349" algn="ctr">
                      <a:solidFill>
                        <a:srgbClr val="DCE6EA"/>
                      </a:solidFill>
                    </a:lnR>
                    <a:lnT w="6349" algn="ctr">
                      <a:solidFill>
                        <a:srgbClr val="DCE6EA"/>
                      </a:solidFill>
                    </a:lnT>
                    <a:lnB w="6349" algn="ctr">
                      <a:solidFill>
                        <a:srgbClr val="DCE6EA"/>
                      </a:solidFill>
                    </a:lnB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201980675" name="Text 7"/>
          <p:cNvSpPr/>
          <p:nvPr/>
        </p:nvSpPr>
        <p:spPr bwMode="auto">
          <a:xfrm>
            <a:off x="7376159" y="1609343"/>
            <a:ext cx="426719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Middleware Stack</a:t>
            </a:r>
            <a:endParaRPr lang="en-US" sz="2000"/>
          </a:p>
        </p:txBody>
      </p:sp>
      <p:sp>
        <p:nvSpPr>
          <p:cNvPr id="221515818" name="Text 8"/>
          <p:cNvSpPr/>
          <p:nvPr/>
        </p:nvSpPr>
        <p:spPr bwMode="auto">
          <a:xfrm>
            <a:off x="7376159" y="1975104"/>
            <a:ext cx="426719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helmet, cors, express-rate-limit (100/15min)</a:t>
            </a:r>
            <a:endParaRPr lang="en-US" sz="14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express-validator input sanitization</a:t>
            </a:r>
            <a:endParaRPr lang="en-US" sz="14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authenticate.js (JWT) + authorize.js (RBAC)</a:t>
            </a:r>
            <a:endParaRPr lang="en-US" sz="1400"/>
          </a:p>
        </p:txBody>
      </p:sp>
      <p:sp>
        <p:nvSpPr>
          <p:cNvPr id="144217680" name="Text 9"/>
          <p:cNvSpPr/>
          <p:nvPr/>
        </p:nvSpPr>
        <p:spPr bwMode="auto">
          <a:xfrm>
            <a:off x="7376159" y="3352799"/>
            <a:ext cx="426719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Data Protection</a:t>
            </a:r>
            <a:endParaRPr lang="en-US" sz="2000"/>
          </a:p>
        </p:txBody>
      </p:sp>
      <p:sp>
        <p:nvSpPr>
          <p:cNvPr id="398255226" name="Text 10"/>
          <p:cNvSpPr/>
          <p:nvPr/>
        </p:nvSpPr>
        <p:spPr bwMode="auto">
          <a:xfrm>
            <a:off x="7376159" y="3718559"/>
            <a:ext cx="426719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GDPR-compliant PII handling; NID encrypted at rest</a:t>
            </a:r>
            <a:endParaRPr lang="en-US" sz="14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AES-256 encryption; JWT expiry configurable (24h)</a:t>
            </a:r>
            <a:endParaRPr lang="en-US" sz="1400"/>
          </a:p>
          <a:p>
            <a:pPr marL="342900" indent="-342900">
              <a:spcAft>
                <a:spcPts val="299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STRIDE model: 11 threat rows analyzed</a:t>
            </a:r>
            <a:endParaRPr lang="en-US" sz="1400"/>
          </a:p>
        </p:txBody>
      </p:sp>
      <p:sp>
        <p:nvSpPr>
          <p:cNvPr id="48812660" name="Shape 11"/>
          <p:cNvSpPr/>
          <p:nvPr/>
        </p:nvSpPr>
        <p:spPr bwMode="auto">
          <a:xfrm>
            <a:off x="609599" y="5303520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334616761" name="Text 12"/>
          <p:cNvSpPr/>
          <p:nvPr/>
        </p:nvSpPr>
        <p:spPr bwMode="auto">
          <a:xfrm>
            <a:off x="609599" y="5462015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Auth: </a:t>
            </a:r>
            <a:r>
              <a:rPr lang="en-US" sz="16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JWT (jsonwebtoken) Bearer tokens, bcrypt password hashing, 6 roles × 12 permissions matrix, centralized error handling with no information leakage.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013007" name="Shape 0"/>
          <p:cNvSpPr/>
          <p:nvPr/>
        </p:nvSpPr>
        <p:spPr bwMode="auto">
          <a:xfrm>
            <a:off x="609599" y="426719"/>
            <a:ext cx="609599" cy="609599"/>
          </a:xfrm>
          <a:prstGeom prst="ellipse">
            <a:avLst/>
          </a:prstGeom>
          <a:solidFill>
            <a:srgbClr val="21295C"/>
          </a:solidFill>
          <a:ln/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557604231" name="Text 1"/>
          <p:cNvSpPr/>
          <p:nvPr/>
        </p:nvSpPr>
        <p:spPr bwMode="auto">
          <a:xfrm>
            <a:off x="609599" y="42671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14</a:t>
            </a:r>
            <a:endParaRPr lang="en-US" sz="1800"/>
          </a:p>
        </p:txBody>
      </p:sp>
      <p:sp>
        <p:nvSpPr>
          <p:cNvPr id="615044450" name="Text 2"/>
          <p:cNvSpPr/>
          <p:nvPr/>
        </p:nvSpPr>
        <p:spPr bwMode="auto">
          <a:xfrm>
            <a:off x="1463040" y="34137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Deployment &amp; Project Management</a:t>
            </a:r>
            <a:endParaRPr lang="en-US" sz="2600"/>
          </a:p>
        </p:txBody>
      </p:sp>
      <p:sp>
        <p:nvSpPr>
          <p:cNvPr id="27200109" name="Text 3"/>
          <p:cNvSpPr/>
          <p:nvPr/>
        </p:nvSpPr>
        <p:spPr bwMode="auto">
          <a:xfrm>
            <a:off x="1463040" y="914400"/>
            <a:ext cx="1011935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Zero-cost cloud deployment · Team_Skipper · 4-week timeline</a:t>
            </a:r>
            <a:endParaRPr lang="en-US" sz="2000"/>
          </a:p>
        </p:txBody>
      </p:sp>
      <p:sp>
        <p:nvSpPr>
          <p:cNvPr id="626282865" name="Shape 4"/>
          <p:cNvSpPr/>
          <p:nvPr/>
        </p:nvSpPr>
        <p:spPr bwMode="auto">
          <a:xfrm>
            <a:off x="609599" y="1402079"/>
            <a:ext cx="10972800" cy="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112695943" name="Text 5"/>
          <p:cNvSpPr/>
          <p:nvPr/>
        </p:nvSpPr>
        <p:spPr bwMode="auto">
          <a:xfrm>
            <a:off x="609599" y="6486142"/>
            <a:ext cx="914400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RelifMesh  ·  CSE 3208 — System Analysis &amp; Design Lab  ·  RMSTU</a:t>
            </a:r>
            <a:endParaRPr lang="en-US" sz="1200"/>
          </a:p>
        </p:txBody>
      </p:sp>
      <p:sp>
        <p:nvSpPr>
          <p:cNvPr id="413468354" name="Text 6"/>
          <p:cNvSpPr/>
          <p:nvPr/>
        </p:nvSpPr>
        <p:spPr bwMode="auto">
          <a:xfrm>
            <a:off x="11033759" y="6486142"/>
            <a:ext cx="548640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2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200"/>
          </a:p>
        </p:txBody>
      </p:sp>
      <p:sp>
        <p:nvSpPr>
          <p:cNvPr id="341283493" name="Text 7"/>
          <p:cNvSpPr/>
          <p:nvPr/>
        </p:nvSpPr>
        <p:spPr bwMode="auto">
          <a:xfrm>
            <a:off x="609599" y="1584959"/>
            <a:ext cx="524255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Deployment</a:t>
            </a:r>
            <a:endParaRPr lang="en-US" sz="2000"/>
          </a:p>
        </p:txBody>
      </p:sp>
      <p:sp>
        <p:nvSpPr>
          <p:cNvPr id="526800862" name="Text 8"/>
          <p:cNvSpPr/>
          <p:nvPr/>
        </p:nvSpPr>
        <p:spPr bwMode="auto">
          <a:xfrm>
            <a:off x="609599" y="1975104"/>
            <a:ext cx="134111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Frontend</a:t>
            </a:r>
            <a:endParaRPr lang="en-US" sz="1600"/>
          </a:p>
        </p:txBody>
      </p:sp>
      <p:sp>
        <p:nvSpPr>
          <p:cNvPr id="1728863633" name="Text 9"/>
          <p:cNvSpPr/>
          <p:nvPr/>
        </p:nvSpPr>
        <p:spPr bwMode="auto">
          <a:xfrm>
            <a:off x="1950719" y="1975104"/>
            <a:ext cx="39014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Netlify — auto-deploy from git</a:t>
            </a:r>
            <a:endParaRPr lang="en-US" sz="1400"/>
          </a:p>
        </p:txBody>
      </p:sp>
      <p:sp>
        <p:nvSpPr>
          <p:cNvPr id="1564263823" name="Text 10"/>
          <p:cNvSpPr/>
          <p:nvPr/>
        </p:nvSpPr>
        <p:spPr bwMode="auto">
          <a:xfrm>
            <a:off x="609599" y="2462783"/>
            <a:ext cx="134111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Backend</a:t>
            </a:r>
            <a:endParaRPr lang="en-US" sz="1600"/>
          </a:p>
        </p:txBody>
      </p:sp>
      <p:sp>
        <p:nvSpPr>
          <p:cNvPr id="48927264" name="Text 11"/>
          <p:cNvSpPr/>
          <p:nvPr/>
        </p:nvSpPr>
        <p:spPr bwMode="auto">
          <a:xfrm>
            <a:off x="1950719" y="2462783"/>
            <a:ext cx="39014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Railway — Node.js Express API</a:t>
            </a:r>
            <a:endParaRPr lang="en-US" sz="1400"/>
          </a:p>
        </p:txBody>
      </p:sp>
      <p:sp>
        <p:nvSpPr>
          <p:cNvPr id="1330654886" name="Text 12"/>
          <p:cNvSpPr/>
          <p:nvPr/>
        </p:nvSpPr>
        <p:spPr bwMode="auto">
          <a:xfrm>
            <a:off x="609599" y="2950463"/>
            <a:ext cx="134111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Database</a:t>
            </a:r>
            <a:endParaRPr lang="en-US" sz="1600"/>
          </a:p>
        </p:txBody>
      </p:sp>
      <p:sp>
        <p:nvSpPr>
          <p:cNvPr id="736267473" name="Text 13"/>
          <p:cNvSpPr/>
          <p:nvPr/>
        </p:nvSpPr>
        <p:spPr bwMode="auto">
          <a:xfrm>
            <a:off x="1950719" y="2950463"/>
            <a:ext cx="3901439" cy="390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MongoDB Atlas — free M0 cluster</a:t>
            </a:r>
            <a:endParaRPr lang="en-US" sz="1400"/>
          </a:p>
        </p:txBody>
      </p:sp>
      <p:sp>
        <p:nvSpPr>
          <p:cNvPr id="1226504046" name="Text 14"/>
          <p:cNvSpPr/>
          <p:nvPr/>
        </p:nvSpPr>
        <p:spPr bwMode="auto">
          <a:xfrm>
            <a:off x="609599" y="3596639"/>
            <a:ext cx="5242559" cy="67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Maintenance: </a:t>
            </a: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daily health checks, weekly sync review, monthly patches, quarterly audits.</a:t>
            </a:r>
            <a:endParaRPr lang="en-US" sz="1400"/>
          </a:p>
        </p:txBody>
      </p:sp>
      <p:sp>
        <p:nvSpPr>
          <p:cNvPr id="421821334" name="Shape 15"/>
          <p:cNvSpPr/>
          <p:nvPr/>
        </p:nvSpPr>
        <p:spPr bwMode="auto">
          <a:xfrm>
            <a:off x="6156959" y="1584959"/>
            <a:ext cx="0" cy="4084319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717705614" name="Text 16"/>
          <p:cNvSpPr/>
          <p:nvPr/>
        </p:nvSpPr>
        <p:spPr bwMode="auto">
          <a:xfrm>
            <a:off x="6461759" y="1584959"/>
            <a:ext cx="5120640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Team_Skipper</a:t>
            </a:r>
            <a:endParaRPr lang="en-US" sz="2000"/>
          </a:p>
        </p:txBody>
      </p:sp>
      <p:sp>
        <p:nvSpPr>
          <p:cNvPr id="1024519276" name="Text 17"/>
          <p:cNvSpPr/>
          <p:nvPr/>
        </p:nvSpPr>
        <p:spPr bwMode="auto">
          <a:xfrm>
            <a:off x="6461759" y="1975104"/>
            <a:ext cx="280415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Abidul Islam</a:t>
            </a:r>
            <a:endParaRPr lang="en-US" sz="1400"/>
          </a:p>
        </p:txBody>
      </p:sp>
      <p:sp>
        <p:nvSpPr>
          <p:cNvPr id="766605757" name="Text 18"/>
          <p:cNvSpPr/>
          <p:nvPr/>
        </p:nvSpPr>
        <p:spPr bwMode="auto">
          <a:xfrm>
            <a:off x="9265919" y="1975104"/>
            <a:ext cx="231647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Backend Lead</a:t>
            </a:r>
            <a:endParaRPr lang="en-US" sz="1400"/>
          </a:p>
        </p:txBody>
      </p:sp>
      <p:sp>
        <p:nvSpPr>
          <p:cNvPr id="1624121180" name="Text 19"/>
          <p:cNvSpPr/>
          <p:nvPr/>
        </p:nvSpPr>
        <p:spPr bwMode="auto">
          <a:xfrm>
            <a:off x="6461759" y="2365247"/>
            <a:ext cx="280415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MD. Kamrul Hassan</a:t>
            </a:r>
            <a:endParaRPr lang="en-US" sz="1400"/>
          </a:p>
        </p:txBody>
      </p:sp>
      <p:sp>
        <p:nvSpPr>
          <p:cNvPr id="1586187796" name="Text 20"/>
          <p:cNvSpPr/>
          <p:nvPr/>
        </p:nvSpPr>
        <p:spPr bwMode="auto">
          <a:xfrm>
            <a:off x="9265919" y="2365247"/>
            <a:ext cx="231647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Frontend Lead</a:t>
            </a:r>
            <a:endParaRPr lang="en-US" sz="1400"/>
          </a:p>
        </p:txBody>
      </p:sp>
      <p:sp>
        <p:nvSpPr>
          <p:cNvPr id="1529981444" name="Text 21"/>
          <p:cNvSpPr/>
          <p:nvPr/>
        </p:nvSpPr>
        <p:spPr bwMode="auto">
          <a:xfrm>
            <a:off x="6461759" y="2755391"/>
            <a:ext cx="280415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Sayeda M. Ahmed</a:t>
            </a:r>
            <a:endParaRPr lang="en-US" sz="1400"/>
          </a:p>
        </p:txBody>
      </p:sp>
      <p:sp>
        <p:nvSpPr>
          <p:cNvPr id="1229310330" name="Text 22"/>
          <p:cNvSpPr/>
          <p:nvPr/>
        </p:nvSpPr>
        <p:spPr bwMode="auto">
          <a:xfrm>
            <a:off x="9265919" y="2755391"/>
            <a:ext cx="231647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Documentation</a:t>
            </a:r>
            <a:endParaRPr lang="en-US" sz="1400"/>
          </a:p>
        </p:txBody>
      </p:sp>
      <p:sp>
        <p:nvSpPr>
          <p:cNvPr id="346567686" name="Text 23"/>
          <p:cNvSpPr/>
          <p:nvPr/>
        </p:nvSpPr>
        <p:spPr bwMode="auto">
          <a:xfrm>
            <a:off x="6461759" y="3145535"/>
            <a:ext cx="280415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Iftekhar A. Nahid</a:t>
            </a:r>
            <a:endParaRPr lang="en-US" sz="1400"/>
          </a:p>
        </p:txBody>
      </p:sp>
      <p:sp>
        <p:nvSpPr>
          <p:cNvPr id="1488094267" name="Text 24"/>
          <p:cNvSpPr/>
          <p:nvPr/>
        </p:nvSpPr>
        <p:spPr bwMode="auto">
          <a:xfrm>
            <a:off x="9265919" y="3145535"/>
            <a:ext cx="2316479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B7080"/>
                </a:solidFill>
                <a:latin typeface="Calibri"/>
                <a:ea typeface="Calibri"/>
                <a:cs typeface="Calibri"/>
              </a:rPr>
              <a:t>Diagrams &amp; DevOps</a:t>
            </a:r>
            <a:endParaRPr lang="en-US" sz="1400"/>
          </a:p>
        </p:txBody>
      </p:sp>
      <p:sp>
        <p:nvSpPr>
          <p:cNvPr id="1817076912" name="Text 25"/>
          <p:cNvSpPr/>
          <p:nvPr/>
        </p:nvSpPr>
        <p:spPr bwMode="auto">
          <a:xfrm>
            <a:off x="6461759" y="3657600"/>
            <a:ext cx="5120640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Timeline</a:t>
            </a:r>
            <a:endParaRPr lang="en-US" sz="2000"/>
          </a:p>
        </p:txBody>
      </p:sp>
      <p:sp>
        <p:nvSpPr>
          <p:cNvPr id="383043288" name="Text 26"/>
          <p:cNvSpPr/>
          <p:nvPr/>
        </p:nvSpPr>
        <p:spPr bwMode="auto">
          <a:xfrm>
            <a:off x="6461759" y="4047743"/>
            <a:ext cx="60959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W1</a:t>
            </a:r>
            <a:endParaRPr lang="en-US" sz="1400"/>
          </a:p>
        </p:txBody>
      </p:sp>
      <p:sp>
        <p:nvSpPr>
          <p:cNvPr id="945452666" name="Text 27"/>
          <p:cNvSpPr/>
          <p:nvPr/>
        </p:nvSpPr>
        <p:spPr bwMode="auto">
          <a:xfrm>
            <a:off x="7071359" y="4047743"/>
            <a:ext cx="451103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Requirements, architecture, DB design</a:t>
            </a:r>
            <a:endParaRPr lang="en-US" sz="1400"/>
          </a:p>
        </p:txBody>
      </p:sp>
      <p:sp>
        <p:nvSpPr>
          <p:cNvPr id="95498200" name="Text 28"/>
          <p:cNvSpPr/>
          <p:nvPr/>
        </p:nvSpPr>
        <p:spPr bwMode="auto">
          <a:xfrm>
            <a:off x="6461759" y="4413502"/>
            <a:ext cx="60959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W2</a:t>
            </a:r>
            <a:endParaRPr lang="en-US" sz="1400"/>
          </a:p>
        </p:txBody>
      </p:sp>
      <p:sp>
        <p:nvSpPr>
          <p:cNvPr id="2110906004" name="Text 29"/>
          <p:cNvSpPr/>
          <p:nvPr/>
        </p:nvSpPr>
        <p:spPr bwMode="auto">
          <a:xfrm>
            <a:off x="7071359" y="4413502"/>
            <a:ext cx="451103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Core implementation, API development</a:t>
            </a:r>
            <a:endParaRPr lang="en-US" sz="1400"/>
          </a:p>
        </p:txBody>
      </p:sp>
      <p:sp>
        <p:nvSpPr>
          <p:cNvPr id="753844761" name="Text 30"/>
          <p:cNvSpPr/>
          <p:nvPr/>
        </p:nvSpPr>
        <p:spPr bwMode="auto">
          <a:xfrm>
            <a:off x="6461759" y="4779263"/>
            <a:ext cx="60959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W3</a:t>
            </a:r>
            <a:endParaRPr lang="en-US" sz="1400"/>
          </a:p>
        </p:txBody>
      </p:sp>
      <p:sp>
        <p:nvSpPr>
          <p:cNvPr id="1490196936" name="Text 31"/>
          <p:cNvSpPr/>
          <p:nvPr/>
        </p:nvSpPr>
        <p:spPr bwMode="auto">
          <a:xfrm>
            <a:off x="7071359" y="4779263"/>
            <a:ext cx="451103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Frontend, integration, testing</a:t>
            </a:r>
            <a:endParaRPr lang="en-US" sz="1400"/>
          </a:p>
        </p:txBody>
      </p:sp>
      <p:sp>
        <p:nvSpPr>
          <p:cNvPr id="985541178" name="Text 32"/>
          <p:cNvSpPr/>
          <p:nvPr/>
        </p:nvSpPr>
        <p:spPr bwMode="auto">
          <a:xfrm>
            <a:off x="6461759" y="5145023"/>
            <a:ext cx="60959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W4</a:t>
            </a:r>
            <a:endParaRPr lang="en-US" sz="1400"/>
          </a:p>
        </p:txBody>
      </p:sp>
      <p:sp>
        <p:nvSpPr>
          <p:cNvPr id="621904059" name="Text 33"/>
          <p:cNvSpPr/>
          <p:nvPr/>
        </p:nvSpPr>
        <p:spPr bwMode="auto">
          <a:xfrm>
            <a:off x="7071359" y="5145023"/>
            <a:ext cx="4511039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B2A38"/>
                </a:solidFill>
                <a:latin typeface="Calibri"/>
                <a:ea typeface="Calibri"/>
                <a:cs typeface="Calibri"/>
              </a:rPr>
              <a:t>Documentation, submission, defense prep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0A1E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58199" name="Shape 0"/>
          <p:cNvSpPr/>
          <p:nvPr/>
        </p:nvSpPr>
        <p:spPr bwMode="auto">
          <a:xfrm>
            <a:off x="609599" y="487679"/>
            <a:ext cx="609599" cy="609599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27453468" name="Text 1"/>
          <p:cNvSpPr/>
          <p:nvPr/>
        </p:nvSpPr>
        <p:spPr bwMode="auto">
          <a:xfrm>
            <a:off x="609599" y="487679"/>
            <a:ext cx="60959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15</a:t>
            </a:r>
            <a:endParaRPr lang="en-US" sz="1500"/>
          </a:p>
        </p:txBody>
      </p:sp>
      <p:sp>
        <p:nvSpPr>
          <p:cNvPr id="2063988794" name="Text 2"/>
          <p:cNvSpPr/>
          <p:nvPr/>
        </p:nvSpPr>
        <p:spPr bwMode="auto">
          <a:xfrm>
            <a:off x="1463040" y="402335"/>
            <a:ext cx="10119359" cy="60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Project Statistics &amp; Conclusion</a:t>
            </a:r>
            <a:endParaRPr lang="en-US" sz="2500"/>
          </a:p>
        </p:txBody>
      </p:sp>
      <p:sp>
        <p:nvSpPr>
          <p:cNvPr id="1091341935" name="Shape 3"/>
          <p:cNvSpPr/>
          <p:nvPr/>
        </p:nvSpPr>
        <p:spPr bwMode="auto">
          <a:xfrm>
            <a:off x="609599" y="1158239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660235626" name="Text 4"/>
          <p:cNvSpPr/>
          <p:nvPr/>
        </p:nvSpPr>
        <p:spPr bwMode="auto">
          <a:xfrm>
            <a:off x="609599" y="1255775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14/14</a:t>
            </a:r>
            <a:endParaRPr lang="en-US" sz="1800"/>
          </a:p>
        </p:txBody>
      </p:sp>
      <p:sp>
        <p:nvSpPr>
          <p:cNvPr id="918068805" name="Text 5"/>
          <p:cNvSpPr/>
          <p:nvPr/>
        </p:nvSpPr>
        <p:spPr bwMode="auto">
          <a:xfrm>
            <a:off x="609599" y="1719071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SAD Modules</a:t>
            </a:r>
            <a:endParaRPr lang="en-US" sz="900"/>
          </a:p>
        </p:txBody>
      </p:sp>
      <p:sp>
        <p:nvSpPr>
          <p:cNvPr id="1262490700" name="Shape 6"/>
          <p:cNvSpPr/>
          <p:nvPr/>
        </p:nvSpPr>
        <p:spPr bwMode="auto">
          <a:xfrm>
            <a:off x="3377183" y="1158239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912151894" name="Text 7"/>
          <p:cNvSpPr/>
          <p:nvPr/>
        </p:nvSpPr>
        <p:spPr bwMode="auto">
          <a:xfrm>
            <a:off x="3377183" y="1255775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44</a:t>
            </a:r>
            <a:endParaRPr lang="en-US" sz="1800"/>
          </a:p>
        </p:txBody>
      </p:sp>
      <p:sp>
        <p:nvSpPr>
          <p:cNvPr id="1693371851" name="Text 8"/>
          <p:cNvSpPr/>
          <p:nvPr/>
        </p:nvSpPr>
        <p:spPr bwMode="auto">
          <a:xfrm>
            <a:off x="3377183" y="1719071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Functional Reqs</a:t>
            </a:r>
            <a:endParaRPr lang="en-US" sz="900"/>
          </a:p>
        </p:txBody>
      </p:sp>
      <p:sp>
        <p:nvSpPr>
          <p:cNvPr id="898013786" name="Shape 9"/>
          <p:cNvSpPr/>
          <p:nvPr/>
        </p:nvSpPr>
        <p:spPr bwMode="auto">
          <a:xfrm>
            <a:off x="6144768" y="1158239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99769520" name="Text 10"/>
          <p:cNvSpPr/>
          <p:nvPr/>
        </p:nvSpPr>
        <p:spPr bwMode="auto">
          <a:xfrm>
            <a:off x="6144768" y="1255775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47/47</a:t>
            </a:r>
            <a:endParaRPr lang="en-US" sz="1800"/>
          </a:p>
        </p:txBody>
      </p:sp>
      <p:sp>
        <p:nvSpPr>
          <p:cNvPr id="883559819" name="Text 11"/>
          <p:cNvSpPr/>
          <p:nvPr/>
        </p:nvSpPr>
        <p:spPr bwMode="auto">
          <a:xfrm>
            <a:off x="6144768" y="1719071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Tests Passing</a:t>
            </a:r>
            <a:endParaRPr lang="en-US" sz="900"/>
          </a:p>
        </p:txBody>
      </p:sp>
      <p:sp>
        <p:nvSpPr>
          <p:cNvPr id="2020402155" name="Shape 12"/>
          <p:cNvSpPr/>
          <p:nvPr/>
        </p:nvSpPr>
        <p:spPr bwMode="auto">
          <a:xfrm>
            <a:off x="8912351" y="1158239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016445535" name="Text 13"/>
          <p:cNvSpPr/>
          <p:nvPr/>
        </p:nvSpPr>
        <p:spPr bwMode="auto">
          <a:xfrm>
            <a:off x="8912351" y="1255775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11</a:t>
            </a:r>
            <a:endParaRPr lang="en-US" sz="1800"/>
          </a:p>
        </p:txBody>
      </p:sp>
      <p:sp>
        <p:nvSpPr>
          <p:cNvPr id="1320441355" name="Text 14"/>
          <p:cNvSpPr/>
          <p:nvPr/>
        </p:nvSpPr>
        <p:spPr bwMode="auto">
          <a:xfrm>
            <a:off x="8912351" y="1719071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System Diagrams</a:t>
            </a:r>
            <a:endParaRPr lang="en-US" sz="900"/>
          </a:p>
        </p:txBody>
      </p:sp>
      <p:sp>
        <p:nvSpPr>
          <p:cNvPr id="545231178" name="Shape 15"/>
          <p:cNvSpPr/>
          <p:nvPr/>
        </p:nvSpPr>
        <p:spPr bwMode="auto">
          <a:xfrm>
            <a:off x="609599" y="2267712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092104336" name="Text 16"/>
          <p:cNvSpPr/>
          <p:nvPr/>
        </p:nvSpPr>
        <p:spPr bwMode="auto">
          <a:xfrm>
            <a:off x="609599" y="2365247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12</a:t>
            </a:r>
            <a:endParaRPr lang="en-US" sz="1800"/>
          </a:p>
        </p:txBody>
      </p:sp>
      <p:sp>
        <p:nvSpPr>
          <p:cNvPr id="1426083501" name="Text 17"/>
          <p:cNvSpPr/>
          <p:nvPr/>
        </p:nvSpPr>
        <p:spPr bwMode="auto">
          <a:xfrm>
            <a:off x="609599" y="2828543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DB Collections</a:t>
            </a:r>
            <a:endParaRPr lang="en-US" sz="900"/>
          </a:p>
        </p:txBody>
      </p:sp>
      <p:sp>
        <p:nvSpPr>
          <p:cNvPr id="599387878" name="Shape 18"/>
          <p:cNvSpPr/>
          <p:nvPr/>
        </p:nvSpPr>
        <p:spPr bwMode="auto">
          <a:xfrm>
            <a:off x="3377183" y="2267712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04127049" name="Text 19"/>
          <p:cNvSpPr/>
          <p:nvPr/>
        </p:nvSpPr>
        <p:spPr bwMode="auto">
          <a:xfrm>
            <a:off x="3377183" y="2365247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50+</a:t>
            </a:r>
            <a:endParaRPr lang="en-US" sz="1800"/>
          </a:p>
        </p:txBody>
      </p:sp>
      <p:sp>
        <p:nvSpPr>
          <p:cNvPr id="1865871430" name="Text 20"/>
          <p:cNvSpPr/>
          <p:nvPr/>
        </p:nvSpPr>
        <p:spPr bwMode="auto">
          <a:xfrm>
            <a:off x="3377183" y="2828543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API Endpoints</a:t>
            </a:r>
            <a:endParaRPr lang="en-US" sz="900"/>
          </a:p>
        </p:txBody>
      </p:sp>
      <p:sp>
        <p:nvSpPr>
          <p:cNvPr id="1281268481" name="Shape 21"/>
          <p:cNvSpPr/>
          <p:nvPr/>
        </p:nvSpPr>
        <p:spPr bwMode="auto">
          <a:xfrm>
            <a:off x="6144768" y="2267712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51928533" name="Text 22"/>
          <p:cNvSpPr/>
          <p:nvPr/>
        </p:nvSpPr>
        <p:spPr bwMode="auto">
          <a:xfrm>
            <a:off x="6144768" y="2365247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6</a:t>
            </a:r>
            <a:endParaRPr lang="en-US" sz="1800"/>
          </a:p>
        </p:txBody>
      </p:sp>
      <p:sp>
        <p:nvSpPr>
          <p:cNvPr id="2112288075" name="Text 23"/>
          <p:cNvSpPr/>
          <p:nvPr/>
        </p:nvSpPr>
        <p:spPr bwMode="auto">
          <a:xfrm>
            <a:off x="6144768" y="2828543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Impl. Phases</a:t>
            </a:r>
            <a:endParaRPr lang="en-US" sz="900"/>
          </a:p>
        </p:txBody>
      </p:sp>
      <p:sp>
        <p:nvSpPr>
          <p:cNvPr id="33695019" name="Shape 24"/>
          <p:cNvSpPr/>
          <p:nvPr/>
        </p:nvSpPr>
        <p:spPr bwMode="auto">
          <a:xfrm>
            <a:off x="8912351" y="2267712"/>
            <a:ext cx="2596894" cy="950976"/>
          </a:xfrm>
          <a:prstGeom prst="roundRect">
            <a:avLst>
              <a:gd name="adj" fmla="val 7692"/>
            </a:avLst>
          </a:prstGeom>
          <a:solidFill>
            <a:srgbClr val="132850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2629912" name="Text 25"/>
          <p:cNvSpPr/>
          <p:nvPr/>
        </p:nvSpPr>
        <p:spPr bwMode="auto">
          <a:xfrm>
            <a:off x="8912351" y="2365247"/>
            <a:ext cx="2596894" cy="463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6FD3C7"/>
                </a:solidFill>
                <a:latin typeface="Cambria"/>
                <a:ea typeface="Cambria"/>
                <a:cs typeface="Cambria"/>
              </a:rPr>
              <a:t>8.5/10</a:t>
            </a:r>
            <a:endParaRPr lang="en-US" sz="1800"/>
          </a:p>
        </p:txBody>
      </p:sp>
      <p:sp>
        <p:nvSpPr>
          <p:cNvPr id="271730914" name="Text 26"/>
          <p:cNvSpPr/>
          <p:nvPr/>
        </p:nvSpPr>
        <p:spPr bwMode="auto">
          <a:xfrm>
            <a:off x="8912351" y="2828543"/>
            <a:ext cx="2596894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AFC6D9"/>
                </a:solidFill>
                <a:latin typeface="Calibri"/>
                <a:ea typeface="Calibri"/>
                <a:cs typeface="Calibri"/>
              </a:rPr>
              <a:t>Assessment Score</a:t>
            </a:r>
            <a:endParaRPr lang="en-US" sz="900"/>
          </a:p>
        </p:txBody>
      </p:sp>
      <p:sp>
        <p:nvSpPr>
          <p:cNvPr id="471849464" name="Shape 27"/>
          <p:cNvSpPr/>
          <p:nvPr/>
        </p:nvSpPr>
        <p:spPr bwMode="auto">
          <a:xfrm>
            <a:off x="609599" y="3474720"/>
            <a:ext cx="1097280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765951381" name="Text 28"/>
          <p:cNvSpPr/>
          <p:nvPr/>
        </p:nvSpPr>
        <p:spPr bwMode="auto">
          <a:xfrm>
            <a:off x="609599" y="363321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6FD3C7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300"/>
          </a:p>
        </p:txBody>
      </p:sp>
      <p:sp>
        <p:nvSpPr>
          <p:cNvPr id="2093934934" name="Text 29"/>
          <p:cNvSpPr/>
          <p:nvPr/>
        </p:nvSpPr>
        <p:spPr bwMode="auto">
          <a:xfrm>
            <a:off x="609599" y="4023358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98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D7E4EE"/>
                </a:solidFill>
                <a:latin typeface="Calibri"/>
                <a:ea typeface="Calibri"/>
                <a:cs typeface="Calibri"/>
              </a:rPr>
              <a:t>RelifMesh addresses duplicate aid, invisible need, and offline unusability with a single coordination layer.</a:t>
            </a:r>
            <a:endParaRPr lang="en-US" sz="1050"/>
          </a:p>
          <a:p>
            <a:pPr marL="342900" indent="-342900">
              <a:spcAft>
                <a:spcPts val="398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D7E4EE"/>
                </a:solidFill>
                <a:latin typeface="Calibri"/>
                <a:ea typeface="Calibri"/>
                <a:cs typeface="Calibri"/>
              </a:rPr>
              <a:t>Offline-first PWA architecture keeps operations running through network outages.</a:t>
            </a:r>
            <a:endParaRPr lang="en-US" sz="1050"/>
          </a:p>
          <a:p>
            <a:pPr marL="342900" indent="-342900">
              <a:spcAft>
                <a:spcPts val="398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D7E4EE"/>
                </a:solidFill>
                <a:latin typeface="Calibri"/>
                <a:ea typeface="Calibri"/>
                <a:cs typeface="Calibri"/>
              </a:rPr>
              <a:t>Built incrementally over 6 phases / 30 modules using Agile methodology; validated by 47/47 passing tests.</a:t>
            </a:r>
            <a:endParaRPr lang="en-US" sz="1050"/>
          </a:p>
          <a:p>
            <a:pPr marL="342900" indent="-342900">
              <a:spcAft>
                <a:spcPts val="398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D7E4EE"/>
                </a:solidFill>
                <a:latin typeface="Calibri"/>
                <a:ea typeface="Calibri"/>
                <a:cs typeface="Calibri"/>
              </a:rPr>
              <a:t>All project objectives met: registration, duplicate detection, offline sync, dashboard, RBAC, need assessment, heatmap.</a:t>
            </a:r>
            <a:endParaRPr lang="en-US" sz="1050"/>
          </a:p>
        </p:txBody>
      </p:sp>
      <p:sp>
        <p:nvSpPr>
          <p:cNvPr id="75611168" name="Text 30"/>
          <p:cNvSpPr/>
          <p:nvPr/>
        </p:nvSpPr>
        <p:spPr bwMode="auto">
          <a:xfrm>
            <a:off x="609599" y="6035039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8FA8BE"/>
                </a:solidFill>
                <a:latin typeface="Calibri"/>
                <a:ea typeface="Calibri"/>
                <a:cs typeface="Calibri"/>
              </a:rPr>
              <a:t>"One mesh. No duplicates. No household left behind."</a:t>
            </a:r>
            <a:endParaRPr lang="en-US" sz="1100"/>
          </a:p>
        </p:txBody>
      </p:sp>
      <p:sp>
        <p:nvSpPr>
          <p:cNvPr id="1536412586" name="Text 31"/>
          <p:cNvSpPr/>
          <p:nvPr/>
        </p:nvSpPr>
        <p:spPr bwMode="auto">
          <a:xfrm>
            <a:off x="609599" y="6437375"/>
            <a:ext cx="10972800" cy="34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F8AA3"/>
                </a:solidFill>
                <a:latin typeface="Calibri"/>
                <a:ea typeface="Calibri"/>
                <a:cs typeface="Calibri"/>
              </a:rPr>
              <a:t>Team_Skipper  |  CSE 3208  |  RMSTU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MED-BRB: Explainable Scabies Detection</dc:title>
  <dc:subject>PptxGenJS Presentation</dc:subject>
  <dc:creator>MD Kamrul Hassan</dc:creator>
  <cp:lastModifiedBy/>
  <cp:revision>7</cp:revision>
  <dcterms:created xsi:type="dcterms:W3CDTF">2026-06-30T20:02:29Z</dcterms:created>
  <dcterms:modified xsi:type="dcterms:W3CDTF">2026-07-07T04:52:19Z</dcterms:modified>
</cp:coreProperties>
</file>