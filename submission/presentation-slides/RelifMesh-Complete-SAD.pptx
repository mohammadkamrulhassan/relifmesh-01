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CSE 3208 — System Analysis &amp; Design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359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FFFFF"/>
                </a:solidFill>
                <a:latin typeface="Calibri"/>
              </a:defRPr>
            </a:pPr>
            <a:r>
              <a:t>RelifMesh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BFDBFE"/>
                </a:solidFill>
                <a:latin typeface="Calibri"/>
              </a:defRPr>
            </a:pPr>
            <a:r>
              <a:t>Disaster Relief Coordination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59E0B"/>
                </a:solidFill>
                <a:latin typeface="Calibri"/>
              </a:defRPr>
            </a:pPr>
            <a:r>
              <a:t>"One mesh. No duplicates. No household left behind."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5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Team: Team_Skipper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FDBFE"/>
                </a:solidFill>
                <a:latin typeface="Calibri"/>
              </a:defRPr>
            </a:pPr>
            <a:r>
              <a:t>Supervisor: MD Mynoddin, Assistant Professor, Dept. of CSE, RMSTU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623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FDBFE"/>
                </a:solidFill>
                <a:latin typeface="Calibri"/>
              </a:defRPr>
            </a:pPr>
            <a:r>
              <a:t>Rangamati Science &amp;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Problem Statement &amp; 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72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Stakeholder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Requirements Engineering (SRS)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40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System Modeling — DFD &amp; UML Diagrams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52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Database Design &amp; ERD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52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UI/UX Design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Testing &amp; QA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Security &amp; Access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773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Deployment &amp; Live Demo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773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Project Management &amp; Team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413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440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Project Statistics &amp;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8 critical pain points in disaster relief coordination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8 Pain Points in Relief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Duplicate 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Same household served multiple times</a:t>
            </a:r>
            <a:br/>
            <a:r>
              <a:t>by different agencies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5544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73736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Missed Households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Vulnerable families skipped</a:t>
            </a:r>
            <a:br/>
            <a:r>
              <a:t>with no 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No Real-Time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Paper-based logs with days</a:t>
            </a:r>
            <a:br/>
            <a:r>
              <a:t>of consolidation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5544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73736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Inter-Agency Opacity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NGOs, government, volunteers</a:t>
            </a:r>
            <a:br/>
            <a:r>
              <a:t>operate independently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206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Offline Environments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92% mobile towers failed</a:t>
            </a:r>
            <a:br/>
            <a:r>
              <a:t>in Feni 2024 floods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40233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420624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206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No Visibility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Nobody can see which areas</a:t>
            </a:r>
            <a:br/>
            <a:r>
              <a:t>still need relief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0233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20624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206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Manual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Slow and error-prone</a:t>
            </a:r>
            <a:br/>
            <a:r>
              <a:t>data consolidation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40233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420624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4206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Lack of Transparency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Communities cannot verify</a:t>
            </a:r>
            <a:br/>
            <a:r>
              <a:t>distribution fairness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Case Study: Feni Floods 2024–2025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Calibri"/>
              </a:defRPr>
            </a:pPr>
            <a:r>
              <a:t>Real disaster data grounding the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Flood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Research grounded in Feni district flood data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lvl="1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Geographic Scope: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6 Upazilas, 43 Unions, 243 Wards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Complete population data for accurate need assessment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lvl="1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Infrastructure Reality: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92% mobile towers went down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Internet outage for days/weeks in affected areas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Paper-based relief lists lost or delayed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lvl="1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System Design Response: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Offline-first PWA — works without internet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LocalIndexedDB queue with auto-sync on reconnect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GPS-based registration with photo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System Implications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Feni District Profile: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6 Upazilas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 • Chhagalnaiya, Daganbhuiyan, Feni Sadar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 • Parshuram, Fulgazi, Sonagazi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Severely flood-prone region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High population density in unions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 lvl="1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Impact of Current Gaps: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Families received aid multiple times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Remote unions completely missed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No coordination between NGOs &amp; govt</a:t>
            </a:r>
          </a:p>
          <a:p>
            <a:pPr lvl="2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• Weeks delay in damage assessment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→ RelifMesh designed specifically</a:t>
            </a:r>
          </a:p>
          <a:p>
            <a:pPr lvl="1">
              <a:lnSpc>
                <a:spcPts val="2080"/>
              </a:lnSpc>
              <a:spcAft>
                <a:spcPts val="4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  for these real-world constraints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SMART Objectives &amp; Solution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Specific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Real-time duplicate detection with 7-day lookback 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Measurable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Offline-first PWA for remote areas with zero connectivity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Achievable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GPS-based household registration with photo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Relevant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Transparent public dashboard with interactive heatmap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Time-bound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32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Complete system deployed within 3-week development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Stakeholder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5 key personas across the relief ecosystem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Key Stakeholders &amp; Power-Interest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Stakeholder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Power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Interest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Upazila Nirbahi Officer (UNO)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Strategic Oversight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UP Official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Primary Operator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NGO / Aid Worker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Field Partner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Citizen / Household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Beneficiary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Outside Donor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Supporter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System Administrator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Technical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Power-Interest Grid Classification: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🔴 High Power, High Interest — UNO, UP Official, System Admin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→ Key players — engage closely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🟡 High Power, Low Interest — Government oversight bodies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→ Keep satisfied with periodic reporting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🟢 Low Power, High Interest — Citizens, NGO Workers, Donors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→ Keep informed via public dashboard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⚪ Low Power, Low Interest — General public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   → Monitor minimally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Requirements Engineering (SRS)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44 functional requirements + 15 non-functional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Functional Requirements (44 total)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Registration, login, RBAC, profile, password reset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Area Management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Geo hierarchy CRUD (Division → Ward), search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Household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GPS/NID registration, vulnerability flags, CRUD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Distribution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Item-level logging, photo/GPS proof, CRUD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Duplicate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7-day detection, resolution workflow,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Need Assessment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Sphere-standard calculation, override, comparison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Pledge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Multi-source pledges, fulfillment, status lifecycle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Feedback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Citizen submission, official response, moderation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PDF generation, CSV export, filtered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Offline queue push/pull, conflict resolution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Public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Aggregate stats, heatmap, transparency 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E40AF"/>
                </a:solidFill>
                <a:latin typeface="Calibri"/>
              </a:defRPr>
            </a:pPr>
            <a:r>
              <a:t>MoSCoW Prioritization: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E40AF"/>
                </a:solidFill>
                <a:latin typeface="Calibri"/>
              </a:defRPr>
            </a:pPr>
            <a:r>
              <a:t>Must Have: 28 | Should Have: 8 | Could Have: 5 | Won't Have: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Non-Functional Requirements (15)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Performance &amp; Scalability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Sub-2s API response time (p95 percentile)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Support for 500+ concurrent users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Reliability &amp; Availability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Offline-first PWA capability for disconnected areas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99.5% uptime target with graceful degradation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Security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RBAC with 6 roles × 12 permissions matrix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AES-256 encryption for sensitive PII data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JWT-based stateless authentication with configurable expiry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Compliance &amp; Standards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GDPR-compliant PII handling and data privacy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Sphere humanitarian standards for need calculation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Usability &amp; Accessibility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Responsive design for mobile/tablet field use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Bengali language support for local officials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• Accessible to users with basic digital literacy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Modeling — DFD &amp;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11 diagrams covering all architectural views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Diagrams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Diagram Type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Diagram Name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DFD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Context Diagram (Level 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context-diagram.drawio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DFD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Level 1 DFD (6 major processes)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level-1-dfd.drawio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Use Case Diagram (8 use cases)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usecase-diagram.drawio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UML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Class Diagram (12 entity classes)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class-diagram.drawio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Sequence — Auth &amp; Household Reg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sequence-sd01.drawio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UML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Sequence — Distribution &amp; Alert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sequence-sd02.drawio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Sequence — Need Calculation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sequence-need-calculation.drawio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UML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Sequence — Pledge Fulfillment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sequence-pledge-fulfillment.drawio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Activity — Relief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activity-relief-flow.drawio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Entity Relationship Diagram (ERD)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erd.drawio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Architecture Diagram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architecture-diagram.drawio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Database Design &amp; ERD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MongoDB — 12 collections, normalized to 3NF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12 MongoDB Collections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376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Collection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Fields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name, email, passwordHash, role, jurisdictionId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Auth &amp; 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GeographicArea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name, level (5-tier), parentId, coordinates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Feni geo hierarchy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Household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headName, NID, GPS, familySize, vulnerabilityFlags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Beneficiary registry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DistributionLog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householdId, itemId, quantity, GPS, photoUrl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Aid tracking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ReliefPledge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source_type, areaId, itemCategoryId, qty,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Multi-source pledges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NeedAssessment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areaId, itemCategoryId, calculated_qty, override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Sphere-standard calc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itemCategoryId, totalQuantity, unit, distributedQty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Stock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Feedback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householdId, category, message, response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Citizen feedback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ReliefRequest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citizenId, items[], priority,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Aid requests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DuplicateAlert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householdId, priorLog, triggeredLog, resolved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Fraud prevention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SyncConflict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offline_id, changes[], merge_strategy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Offline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ItemCategory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name, unit, per_person_per_day_qty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Reference data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Key Design Decisions: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• All schemas normalized to 3NF  •  2dsphere indexes on GPS for proximity queries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• Document references (not embedded) for scalability  •  Vulnerability flags for targeting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PWA + REST API + MongoDB — Offline-First 3-Tier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3200400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44610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446466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FDBFE"/>
                </a:solidFill>
                <a:latin typeface="Calibri"/>
              </a:defRPr>
            </a:pPr>
            <a:r>
              <a:t>React 18 PWA</a:t>
            </a:r>
            <a:br/>
            <a:r>
              <a:t>localforage (IndexedDB)</a:t>
            </a:r>
            <a:br/>
            <a:r>
              <a:t>Service 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↕  REST API (HTTPS)  ↔  JWT Auth  ↔  Rate Limiting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914400"/>
            <a:ext cx="3200400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0671572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0671938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FDBFE"/>
                </a:solidFill>
                <a:latin typeface="Calibri"/>
              </a:defRPr>
            </a:pPr>
            <a:r>
              <a:t>Express.js Server</a:t>
            </a:r>
            <a:br/>
            <a:r>
              <a:t>14 Feature Modules</a:t>
            </a:r>
            <a:br/>
            <a:r>
              <a:t>Sync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↕  Mongoose ODM  ↔  Validation  ↔  Error Handling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914400"/>
            <a:ext cx="3200400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67897044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7897410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FDBFE"/>
                </a:solidFill>
                <a:latin typeface="Calibri"/>
              </a:defRPr>
            </a:pPr>
            <a:r>
              <a:t>MongoDB Atlas</a:t>
            </a:r>
            <a:br/>
            <a:r>
              <a:t>12 Collections</a:t>
            </a:r>
            <a:br/>
            <a:r>
              <a:t>Geo 2dsphere Indexes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Architecture Flow: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Browser (React PWA) ──HTTPS──► Express API ──Mongoose──► MongoDB Atlas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 ↕ localforage (IndexedDB offline queue)     ↕ Sync Engine (LWW conflict resolution)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Key Architectural Decisions: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Offline-First: localforage queues writes when offline; auto-syncs on reconnect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Conflict Resolution: Last-write-wins by timestamp; logged for manual review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Self-seeding: Empty database auto-seeds on startup with Feni data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Role-scoped queries: All controllers filter by req.user.jurisdictionId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Geo-hierarchy: Self-referencing model (Division → District → Upazila → Union → Ward)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Frontend (React PWA)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18.3.1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SPA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Vite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5.4.0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Build tool + HMR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React Router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6.26.0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Client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Tailwind CSS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3.4.0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Utility-first CSS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Leaflet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1.9.4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Interactive maps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localforage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1.10.0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IndexedDB offline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vite-plugin-pwa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Service worker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Backend (Express.js)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2024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Express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4.21.0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REST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Mongoose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8.6.0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MongoDB ODM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9.0.2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Stateless auth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bcrypt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5.1.1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Password hashing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helmet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Security headers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PDFKit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latest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PDF reports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29.7.0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Test runner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Deployment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521208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Netlify (auto-deploy)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Railway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MongoDB Atlas (M0 free)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UI/UX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Design system, wireframes, and key pages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UI/UX 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Typography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Headings: DM Serif Display</a:t>
            </a:r>
            <a:br/>
            <a:r>
              <a:t>Body: Outfit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51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65176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Color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Light/Dark themes</a:t>
            </a:r>
            <a:br/>
            <a:r>
              <a:t>Blue primary (#3B82F6)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651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Spacing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4px grid scale</a:t>
            </a:r>
            <a:br/>
            <a:r>
              <a:t>8px multiples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63040"/>
            <a:ext cx="2651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463040"/>
            <a:ext cx="265176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Sidebar 260px/64px</a:t>
            </a:r>
            <a:br/>
            <a:r>
              <a:t>Topbar 64px, Fluid content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31089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Components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Landing Page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Stats, CTA, hero overview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Public entry 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KPI cards, charts, distributions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Operations overview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Public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Interactive heatmap, drill-down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Transparency &amp;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Households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Table, search, photo capture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Beneficiary management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Distributions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Item logging, GPS 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Relief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Need Dashboard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Sphere-calc vs actual comparison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Gap analysis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Pledges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Multi-source, fulfillment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Resource coordination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Design Assets: Wireframes (2 PNG)  •  Mockups (2 PNG)  •  Style Guide (PDF)  •  340-line Design Pattern Spec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30 modules across 6 phases — Agile 3-week cycle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6-Phase 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620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Data Model &amp;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M1–M6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Project scaffold, auth, geo hierarchy,</a:t>
            </a:r>
            <a:br/>
            <a:r>
              <a:t>DB seeding, frontend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04288"/>
            <a:ext cx="762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04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Core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042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M7–M12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30428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Household CRUD, distribution,</a:t>
            </a:r>
            <a:br/>
            <a:r>
              <a:t>duplicate alerts, inventory,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45536"/>
            <a:ext cx="762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45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455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Need &amp; Pledge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1455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M13–M18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14553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Sphere-standard need engine,</a:t>
            </a:r>
            <a:br/>
            <a:r>
              <a:t>pledge lifecycle, reports, heatmap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86784"/>
            <a:ext cx="7620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867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986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Public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9867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M19–M23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86784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Landing page, public dashboard,</a:t>
            </a:r>
            <a:br/>
            <a:r>
              <a:t>citizen feedback &amp; 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28032"/>
            <a:ext cx="7620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28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5CF6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828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Offline &amp; 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828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M24–M27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82803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Offline queue, push/pull sync,</a:t>
            </a:r>
            <a:br/>
            <a:r>
              <a:t>service worker, PWA manifest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669280"/>
            <a:ext cx="76200" cy="7315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69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C4899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F2937"/>
                </a:solidFill>
                <a:latin typeface="Calibri"/>
              </a:defRPr>
            </a:pPr>
            <a:r>
              <a:t>Testing &amp; 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669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M28–M30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669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Integration tests, security audit,</a:t>
            </a:r>
            <a:br/>
            <a:r>
              <a:t>documentation finalization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Methodology: Agile with weekly sprints  •  Git feature branching  •  ESLint + Prettier  •  Peer code reviews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Testing &amp;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47/47 tests passing — Unit, Integration &amp; UAT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Test Results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118872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51760" cy="118872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Integration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651760" cy="118872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UAT 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63040"/>
            <a:ext cx="2651760" cy="118872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47/47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All Passing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29260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Coverage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Register, login, token, invalid credentials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Household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CRUD, NID validation, GPS validation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Distribution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CRUD, GPS/quantity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Feedback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Submit, list, respond, moderation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Offline push, pull, conflict resolution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Reports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PDF generation, CSV export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7-day duplicate detection window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520" y="5943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Integration Tests: Full relief workflow, Offline sync round-trip, RBAC enforcement, Need calc pipeline, Pledge lifecycle, Duplicate alert cascade</a:t>
            </a:r>
          </a:p>
          <a:p>
            <a:pPr>
              <a:lnSpc>
                <a:spcPts val="1690"/>
              </a:lnSpc>
              <a:spcAft>
                <a:spcPts val="400"/>
              </a:spcAft>
              <a:defRPr sz="1300">
                <a:solidFill>
                  <a:srgbClr val="6B7280"/>
                </a:solidFill>
                <a:latin typeface="Calibri"/>
              </a:defRPr>
            </a:pPr>
            <a:r>
              <a:t>UAT: UP Official workflow, NGO offline sync, Citizen feedback, Duplicate detection, Public dashboard 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Security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STRIDE threat model, JWT auth, RBAC matrix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32"/>
              </a:tblGrid>
              <a:tr h="26600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Permission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UNO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Official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NGO Worker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Citizen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Anonymous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User Mgmt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Area Mgmt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Household CRUD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Distribution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Need Assessment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Pledge Mgmt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Reports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26600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Public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6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Sync Ops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663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Security Middleware Stack: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helmet (HTTP headers)  •  cors (origin restriction)  •  express-rate-limit (100 req/15min)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express-validator (input sanitization)  •  Centralized errorHandler (no info leakage)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authenticate.js (JWT verification)  •  authorize.js (RBAC enforcement)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Data Protection: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• PII handled per GDPR guidelines  •  NID numbers encrypted at rest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• Photo uploads with access controls  •  JWT token expiry: configurable (default 24h)</a:t>
            </a:r>
          </a:p>
          <a:p>
            <a:pPr lvl="1">
              <a:lnSpc>
                <a:spcPts val="1820"/>
              </a:lnSpc>
              <a:spcAft>
                <a:spcPts val="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• STRIDE threat model: 11 threat rows analyzed across all layers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Deployment &amp;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Zero-cost deployment across free cloud tiers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Live URLs: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Frontend:  https://reliefmesh.netlify.app  (Netlify, auto-deploy from git)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Backend:   Railway (Node.js Express, env vars from dashboard)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Database:  MongoDB Atlas (Free M0 cluster, IP whitelist)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Deployment Process: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Frontend:  npm run build  →  netlify deploy (publish dist/ directory)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Backend:   git push railway main  (Railway auto-deploys from GitHub)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Backup Strategy: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Database: Nightly mongodump via cron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Code: Continuous Git version control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Full Archive: Manual ZIP backup on milestones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Maintenance Schedule: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Daily: Error log monitoring, server health checks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Weekly: Review sync conflicts, duplicate alerts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Monthly: Dependency updates, security patches</a:t>
            </a:r>
          </a:p>
          <a:p>
            <a:pPr lvl="1">
              <a:lnSpc>
                <a:spcPts val="1950"/>
              </a:lnSpc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• Quarterly: Full security audit, performance review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Project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Team, timeline, deliverables &amp; meeting minutes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Team: Team_Skipper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Contributions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Abidul Islam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Backend Lead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API design, DB modeling, auth, sync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MD. Kamrul Hassan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Frontend Lead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UI/UX, component architecture, maps, PWA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Sayeda Mofatteha Ahmed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SRS, testing, QA, stakeholder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Iftekhar Alam Nahid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Diagrams &amp; DevOps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DFD/UML/ERD, deployment, reports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Development Timeline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2062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Dates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Week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May 27 — Jun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Requirements, architecture, DB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Week 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Jun 1 — Jun 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Core implementation, API development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Week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Jun 5 — Jun 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Frontend, integration,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Week 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Jun 9 — Jun 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Documentation, submission, defense prep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59E0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Project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FDBFE"/>
                </a:solidFill>
                <a:latin typeface="Calibri"/>
              </a:defRPr>
            </a:pPr>
            <a:r>
              <a:t>Complete deliverables &amp; quality metrics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14/14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SAD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5448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Functional Reqs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47/47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55448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System Diagrams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1752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Frontend Routes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01752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520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01752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20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DB Collections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01752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108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520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Backend Modules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48056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UI Components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448056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Implementation Phases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48056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4480560"/>
            <a:ext cx="2651760" cy="123444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F2937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Calibri"/>
              </a:defRPr>
            </a:pPr>
            <a:r>
              <a:t>8.5/10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303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Assessment Score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E40AF"/>
                </a:solidFill>
                <a:latin typeface="Calibri"/>
              </a:defRPr>
            </a:pPr>
            <a:r>
              <a:t>SAD Documentation — 14 Modules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Section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Project Initiation &amp; Problem Definition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Stakeholder Analysis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Requirements Engineering (SRS)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System Modeling (DFD &amp; UML)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Database Design &amp; ERD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Architecture &amp; Tech Stack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UI/UX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Implementation Plan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Testing &amp; QA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Security &amp; Access Control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Deployment &amp; Maintenance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Project Management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References &amp; Bibliography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3.14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Presentation &amp; Defense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39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BFDBFE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59E0B"/>
                </a:solidFill>
                <a:latin typeface="Calibri"/>
              </a:defRPr>
            </a:pPr>
            <a:r>
              <a:t>"One mesh. No duplicates. No household left behind."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5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Team_Skipper  |  CSE 3208  |  RMSTU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FDBFE"/>
                </a:solidFill>
                <a:latin typeface="Calibri"/>
              </a:defRPr>
            </a:pPr>
            <a:r>
              <a:t>Supervisor: MD Mynoddin, Assistant Professor, Department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FDBFE"/>
                </a:solidFill>
                <a:latin typeface="Calibri"/>
              </a:defRPr>
            </a:pPr>
            <a:r>
              <a:t>Rangamati Science and Technology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