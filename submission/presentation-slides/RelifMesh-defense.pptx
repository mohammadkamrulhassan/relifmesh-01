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5400" b="1">
                <a:solidFill>
                  <a:srgbClr val="38BDF8"/>
                </a:solidFill>
              </a:defRPr>
            </a:pPr>
            <a:r>
              <a:t>RELIFMESH</a:t>
            </a:r>
          </a:p>
          <a:p>
            <a:pPr>
              <a:spcAft>
                <a:spcPts val="400"/>
              </a:spcAft>
              <a:defRPr sz="2400" b="0">
                <a:solidFill>
                  <a:srgbClr val="94A3B8"/>
                </a:solidFill>
              </a:defRPr>
            </a:pPr>
            <a:r>
              <a:t>Disaster Relief Management System</a:t>
            </a:r>
          </a:p>
          <a:p>
            <a:pPr>
              <a:spcAft>
                <a:spcPts val="400"/>
              </a:spcAft>
              <a:defRPr sz="1800" b="0">
                <a:solidFill>
                  <a:srgbClr val="64748B"/>
                </a:solidFill>
              </a:defRPr>
            </a:pPr>
            <a:r>
              <a:t>System Analysis &amp; Design - CSE 3208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3600" b="1">
                <a:solidFill>
                  <a:srgbClr val="1E293B"/>
                </a:solidFill>
              </a:defRPr>
            </a:pPr>
            <a: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800" b="0">
                <a:solidFill>
                  <a:srgbClr val="334155"/>
                </a:solidFill>
              </a:defRPr>
            </a:pPr>
            <a:r>
              <a:t>• 4 user roles: UPAZILA_OFFICER, UP_OFFICIAL, NGO_WORKER, CITIZEN</a:t>
            </a:r>
          </a:p>
          <a:p>
            <a:pPr>
              <a:spcAft>
                <a:spcPts val="400"/>
              </a:spcAft>
              <a:defRPr sz="1800" b="0">
                <a:solidFill>
                  <a:srgbClr val="334155"/>
                </a:solidFill>
              </a:defRPr>
            </a:pPr>
            <a:r>
              <a:t>• Household registration with GPS tracking</a:t>
            </a:r>
          </a:p>
          <a:p>
            <a:pPr>
              <a:spcAft>
                <a:spcPts val="400"/>
              </a:spcAft>
              <a:defRPr sz="1800" b="0">
                <a:solidFill>
                  <a:srgbClr val="334155"/>
                </a:solidFill>
              </a:defRPr>
            </a:pPr>
            <a:r>
              <a:t>• Relief distribution logging with photo &amp; sync support</a:t>
            </a:r>
          </a:p>
          <a:p>
            <a:pPr>
              <a:spcAft>
                <a:spcPts val="400"/>
              </a:spcAft>
              <a:defRPr sz="1800" b="0">
                <a:solidFill>
                  <a:srgbClr val="334155"/>
                </a:solidFill>
              </a:defRPr>
            </a:pPr>
            <a:r>
              <a:t>• Citizen self-registration &amp; relief request submission</a:t>
            </a:r>
          </a:p>
          <a:p>
            <a:pPr>
              <a:spcAft>
                <a:spcPts val="400"/>
              </a:spcAft>
              <a:defRPr sz="1800" b="0">
                <a:solidFill>
                  <a:srgbClr val="334155"/>
                </a:solidFill>
              </a:defRPr>
            </a:pPr>
            <a:r>
              <a:t>• Dashboard with real-time statistics and alerts</a:t>
            </a:r>
          </a:p>
          <a:p>
            <a:pPr>
              <a:spcAft>
                <a:spcPts val="400"/>
              </a:spcAft>
              <a:defRPr sz="1800" b="0">
                <a:solidFill>
                  <a:srgbClr val="334155"/>
                </a:solidFill>
              </a:defRPr>
            </a:pPr>
            <a:r>
              <a:t>• Feedback system for citizen engagement</a:t>
            </a:r>
          </a:p>
          <a:p>
            <a:pPr>
              <a:spcAft>
                <a:spcPts val="400"/>
              </a:spcAft>
              <a:defRPr sz="1800" b="0">
                <a:solidFill>
                  <a:srgbClr val="334155"/>
                </a:solidFill>
              </a:defRPr>
            </a:pPr>
            <a:r>
              <a:t>• Tech: MongoDB + Express.js + React (Vite)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3600" b="1">
                <a:solidFill>
                  <a:srgbClr val="1E293B"/>
                </a:solidFill>
              </a:defRPr>
            </a:pPr>
            <a:r>
              <a:t>Three-Tier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2200" b="1">
                <a:solidFill>
                  <a:srgbClr val="1E293B"/>
                </a:solidFill>
              </a:defRPr>
            </a:pPr>
            <a:r>
              <a:t>Client Tier:</a:t>
            </a:r>
          </a:p>
          <a:p>
            <a:pPr>
              <a:spcAft>
                <a:spcPts val="400"/>
              </a:spcAft>
              <a:defRPr sz="1800" b="0">
                <a:solidFill>
                  <a:srgbClr val="475464"/>
                </a:solidFill>
              </a:defRPr>
            </a:pPr>
            <a:r>
              <a:t>  React SPA (Vite), React Router, Axios, SVG Icons</a:t>
            </a:r>
          </a:p>
          <a:p>
            <a:pPr>
              <a:spcAft>
                <a:spcPts val="400"/>
              </a:spcAft>
              <a:defRPr sz="2200" b="1">
                <a:solidFill>
                  <a:srgbClr val="1E293B"/>
                </a:solidFill>
              </a:defRPr>
            </a:pPr>
            <a:r>
              <a:t>API Gateway:</a:t>
            </a:r>
          </a:p>
          <a:p>
            <a:pPr>
              <a:spcAft>
                <a:spcPts val="400"/>
              </a:spcAft>
              <a:defRPr sz="1800" b="0">
                <a:solidFill>
                  <a:srgbClr val="475464"/>
                </a:solidFill>
              </a:defRPr>
            </a:pPr>
            <a:r>
              <a:t>  Express.js, JWT Auth Middleware, Mongoose ODM, Route Modules</a:t>
            </a:r>
          </a:p>
          <a:p>
            <a:pPr>
              <a:spcAft>
                <a:spcPts val="400"/>
              </a:spcAft>
              <a:defRPr sz="2200" b="1">
                <a:solidFill>
                  <a:srgbClr val="1E293B"/>
                </a:solidFill>
              </a:defRPr>
            </a:pPr>
            <a:r>
              <a:t>Data Tier:</a:t>
            </a:r>
          </a:p>
          <a:p>
            <a:pPr>
              <a:spcAft>
                <a:spcPts val="400"/>
              </a:spcAft>
              <a:defRPr sz="1800" b="0">
                <a:solidFill>
                  <a:srgbClr val="475464"/>
                </a:solidFill>
              </a:defRPr>
            </a:pPr>
            <a:r>
              <a:t>  MongoDB: Users, Households, DistributionLogs, ReliefRequests, Feedback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3600" b="1">
                <a:solidFill>
                  <a:srgbClr val="1E293B"/>
                </a:solidFill>
              </a:defRPr>
            </a:pPr>
            <a:r>
              <a:t>Data Flow Diagrams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2200" b="1">
                <a:solidFill>
                  <a:srgbClr val="1E293B"/>
                </a:solidFill>
              </a:defRPr>
            </a:pPr>
            <a:r>
              <a:t>Context Level (DFD-0):</a:t>
            </a:r>
          </a:p>
          <a:p>
            <a:pPr>
              <a:spcAft>
                <a:spcPts val="400"/>
              </a:spcAft>
              <a:defRPr sz="1600" b="0">
                <a:solidFill>
                  <a:srgbClr val="334155"/>
                </a:solidFill>
              </a:defRPr>
            </a:pPr>
            <a:r>
              <a:t>  • UPAZILA_OFFICER - Admin, reports, user mgmt</a:t>
            </a:r>
          </a:p>
          <a:p>
            <a:pPr>
              <a:spcAft>
                <a:spcPts val="400"/>
              </a:spcAft>
              <a:defRPr sz="1600" b="0">
                <a:solidFill>
                  <a:srgbClr val="334155"/>
                </a:solidFill>
              </a:defRPr>
            </a:pPr>
            <a:r>
              <a:t>  • UP_OFFICIAL - Household registration, distribution</a:t>
            </a:r>
          </a:p>
          <a:p>
            <a:pPr>
              <a:spcAft>
                <a:spcPts val="400"/>
              </a:spcAft>
              <a:defRPr sz="1600" b="0">
                <a:solidFill>
                  <a:srgbClr val="334155"/>
                </a:solidFill>
              </a:defRPr>
            </a:pPr>
            <a:r>
              <a:t>  • NGO_WORKER - Distribution logging</a:t>
            </a:r>
          </a:p>
          <a:p>
            <a:pPr>
              <a:spcAft>
                <a:spcPts val="400"/>
              </a:spcAft>
              <a:defRPr sz="1600" b="0">
                <a:solidFill>
                  <a:srgbClr val="334155"/>
                </a:solidFill>
              </a:defRPr>
            </a:pPr>
            <a:r>
              <a:t>  • CITIZEN - Self-registration, relief requests, feedback</a:t>
            </a:r>
          </a:p>
          <a:p>
            <a:pPr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</a:p>
          <a:p>
            <a:pPr>
              <a:spcAft>
                <a:spcPts val="400"/>
              </a:spcAft>
              <a:defRPr sz="2200" b="1">
                <a:solidFill>
                  <a:srgbClr val="1E293B"/>
                </a:solidFill>
              </a:defRPr>
            </a:pPr>
            <a:r>
              <a:t>Level 1 Processes:</a:t>
            </a:r>
          </a:p>
          <a:p>
            <a:pPr>
              <a:spcAft>
                <a:spcPts val="400"/>
              </a:spcAft>
              <a:defRPr sz="1600" b="0">
                <a:solidFill>
                  <a:srgbClr val="334155"/>
                </a:solidFill>
              </a:defRPr>
            </a:pPr>
            <a:r>
              <a:t>  • P1: Authentication &amp; User Mgmt</a:t>
            </a:r>
          </a:p>
          <a:p>
            <a:pPr>
              <a:spcAft>
                <a:spcPts val="400"/>
              </a:spcAft>
              <a:defRPr sz="1600" b="0">
                <a:solidFill>
                  <a:srgbClr val="334155"/>
                </a:solidFill>
              </a:defRPr>
            </a:pPr>
            <a:r>
              <a:t>  • P2: Household Management</a:t>
            </a:r>
          </a:p>
          <a:p>
            <a:pPr>
              <a:spcAft>
                <a:spcPts val="400"/>
              </a:spcAft>
              <a:defRPr sz="1600" b="0">
                <a:solidFill>
                  <a:srgbClr val="334155"/>
                </a:solidFill>
              </a:defRPr>
            </a:pPr>
            <a:r>
              <a:t>  • P3: Distribution Management</a:t>
            </a:r>
          </a:p>
          <a:p>
            <a:pPr>
              <a:spcAft>
                <a:spcPts val="400"/>
              </a:spcAft>
              <a:defRPr sz="1600" b="0">
                <a:solidFill>
                  <a:srgbClr val="334155"/>
                </a:solidFill>
              </a:defRPr>
            </a:pPr>
            <a:r>
              <a:t>  • P4: Relief Request Management</a:t>
            </a:r>
          </a:p>
          <a:p>
            <a:pPr>
              <a:spcAft>
                <a:spcPts val="400"/>
              </a:spcAft>
              <a:defRPr sz="1600" b="0">
                <a:solidFill>
                  <a:srgbClr val="334155"/>
                </a:solidFill>
              </a:defRPr>
            </a:pPr>
            <a:r>
              <a:t>  • P5: Dashboard &amp; Reports</a:t>
            </a:r>
          </a:p>
          <a:p>
            <a:pPr>
              <a:spcAft>
                <a:spcPts val="400"/>
              </a:spcAft>
              <a:defRPr sz="1600" b="0">
                <a:solidFill>
                  <a:srgbClr val="334155"/>
                </a:solidFill>
              </a:defRPr>
            </a:pPr>
            <a:r>
              <a:t>  • P6: Feedback Management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3600" b="1">
                <a:solidFill>
                  <a:srgbClr val="1E293B"/>
                </a:solidFill>
              </a:defRPr>
            </a:pPr>
            <a:r>
              <a:t>Use Case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700" b="0">
                <a:solidFill>
                  <a:srgbClr val="334155"/>
                </a:solidFill>
              </a:defRPr>
            </a:pPr>
            <a:r>
              <a:t>• UPAZILA_OFFICER: Login, Manage Users, View Dashboard, Manage Feedback, Review Relief Requests</a:t>
            </a:r>
          </a:p>
          <a:p>
            <a:pPr>
              <a:spcAft>
                <a:spcPts val="400"/>
              </a:spcAft>
              <a:defRPr sz="1700" b="0">
                <a:solidFill>
                  <a:srgbClr val="334155"/>
                </a:solidFill>
              </a:defRPr>
            </a:pPr>
            <a:r>
              <a:t>• UP_OFFICIAL: Login, Register Households, Log Distributions, Edit/Delete Distributions, View Relief History</a:t>
            </a:r>
          </a:p>
          <a:p>
            <a:pPr>
              <a:spcAft>
                <a:spcPts val="400"/>
              </a:spcAft>
              <a:defRPr sz="1700" b="0">
                <a:solidFill>
                  <a:srgbClr val="334155"/>
                </a:solidFill>
              </a:defRPr>
            </a:pPr>
            <a:r>
              <a:t>• NGO_WORKER: Login, Log Distributions, View Dashboard</a:t>
            </a:r>
          </a:p>
          <a:p>
            <a:pPr>
              <a:spcAft>
                <a:spcPts val="400"/>
              </a:spcAft>
              <a:defRPr sz="1700" b="0">
                <a:solidFill>
                  <a:srgbClr val="334155"/>
                </a:solidFill>
              </a:defRPr>
            </a:pPr>
            <a:r>
              <a:t>• CITIZEN: Self-Register, Login, Submit Relief Request, View Dashboard, Submit Feedback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spcAft>
                <a:spcPts val="400"/>
              </a:spcAft>
              <a:defRPr sz="4800" b="1">
                <a:solidFill>
                  <a:srgbClr val="38BDF8"/>
                </a:solidFill>
              </a:defRPr>
            </a:pPr>
            <a:r>
              <a:t>Thank You</a:t>
            </a:r>
          </a:p>
          <a:p>
            <a:pPr>
              <a:spcAft>
                <a:spcPts val="400"/>
              </a:spcAft>
              <a:defRPr sz="2200" b="0">
                <a:solidFill>
                  <a:srgbClr val="94A3B8"/>
                </a:solidFill>
              </a:defRPr>
            </a:pPr>
            <a:r>
              <a:t>RelifMesh - Disaster Relief Management System</a:t>
            </a:r>
          </a:p>
          <a:p>
            <a:pPr>
              <a:spcAft>
                <a:spcPts val="400"/>
              </a:spcAft>
              <a:defRPr sz="1800" b="0">
                <a:solidFill>
                  <a:srgbClr val="64748B"/>
                </a:solidFill>
              </a:defRPr>
            </a:pPr>
            <a:r>
              <a:t>CSE 3208: System Analysis and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