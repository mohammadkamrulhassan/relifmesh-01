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RELIFMESH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560320"/>
            <a:ext cx="3657600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BCCDD"/>
                </a:solidFill>
                <a:latin typeface="Calibri"/>
              </a:defRPr>
            </a:pPr>
            <a:r>
              <a:t>Disaster Relief Coordination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CSE 3208: System Analysis and Design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99"/>
                </a:solidFill>
                <a:latin typeface="Calibri"/>
              </a:defRPr>
            </a:pPr>
            <a:r>
              <a:t>Department of CSE, RMSTU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8686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Introduction &amp; Problem Statement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Project Objectives &amp; Scope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Literature Review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Development Methodology (Agile)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Requirements Engineering (FR / NFR)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System Modeling: DFD, Use Case, Activity, Class, ERD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Database Design &amp;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UI/UX Design &amp; Technology Stack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Key Algorithms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Results &amp; Testing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Limitations &amp; Future Work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Why RelifMesh?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8686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Bangladesh faces annual floods and cyclones; relief distribution is fragmented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Multiple agencies (UP, Upazila, NGOs, military) distribute independently with no shared registry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Result: some households get aid multiple times, others receive nothing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August 2024 floods affected 4.5-5.8M people; 92% mobile towers down in Feni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Cloud-only systems fail when needed most -- offline-first is essential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RelifMesh: a full-stack, offline-first PWA for coordinating disaster relief at Union Parishad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Three groups experience direct harm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743200" cy="3200400"/>
          </a:xfrm>
          <a:prstGeom prst="rect">
            <a:avLst/>
          </a:prstGeom>
          <a:solidFill>
            <a:srgbClr val="E8F0FE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Affected Households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Unequal aid distribution</a:t>
            </a:r>
            <a:br/>
            <a:r>
              <a:t>Some receive multiple times</a:t>
            </a:r>
            <a:br/>
            <a:r>
              <a:t>Others receive nothing</a:t>
            </a:r>
            <a:br/>
            <a:r>
              <a:t>No transparency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645920"/>
            <a:ext cx="2743200" cy="3200400"/>
          </a:xfrm>
          <a:prstGeom prst="rect">
            <a:avLst/>
          </a:prstGeom>
          <a:solidFill>
            <a:srgbClr val="E8F0FE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4E8C"/>
                </a:solidFill>
                <a:latin typeface="Calibri"/>
              </a:defRPr>
            </a:pPr>
            <a:r>
              <a:t>UP Officials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3774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No real-time visibility</a:t>
            </a:r>
            <a:br/>
            <a:r>
              <a:t>Cannot verify other teams</a:t>
            </a:r>
            <a:br/>
            <a:r>
              <a:t>Paper-based tracking</a:t>
            </a:r>
            <a:br/>
            <a:r>
              <a:t>Manual reporting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645920"/>
            <a:ext cx="2743200" cy="3200400"/>
          </a:xfrm>
          <a:prstGeom prst="rect">
            <a:avLst/>
          </a:prstGeom>
          <a:solidFill>
            <a:srgbClr val="E8F0FE"/>
          </a:solidFill>
          <a:ln w="25400">
            <a:solidFill>
              <a:srgbClr val="0D9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9482"/>
                </a:solidFill>
                <a:latin typeface="Calibri"/>
              </a:defRPr>
            </a:pPr>
            <a:r>
              <a:t>District/Upazila Admins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3774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Cannot verify ground reality</a:t>
            </a:r>
            <a:br/>
            <a:r>
              <a:t>No aggregated dashboard</a:t>
            </a:r>
            <a:br/>
            <a:r>
              <a:t>Field visits required</a:t>
            </a:r>
            <a:br/>
            <a:r>
              <a:t>Delayed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8686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Household registration with GPS/photo (50+ test households)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Rule-based duplicate detection within 7-day lookback (90%+ accuracy)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Offline-first operation with IndexedDB auto-sync (95%+ success rate)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Public dashboard with aggregated stats (&lt; 3s load on 3G)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Role-based access control for 4 user roles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Sphere-standard need assessment engine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Public heatmap with ward-level drill-down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C69"/>
                </a:solidFill>
                <a:latin typeface="Calibri"/>
              </a:defRPr>
            </a:pPr>
            <a:r>
              <a:t>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Household registration with GPS and photo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Relief distribution logging with item-level detail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Rule-based duplicate detection engine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Multi-role authentication (JWT)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Offline-first data entry with sync &amp; conflict resolution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Public dashboard &amp; heatmap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Inventory tracking &amp; report export (PDF/CSV)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Multi-source relief pledge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Out of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Financial transactions &amp; procurement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AI-based forecasting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National NID database integration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Native mobile apps (PWA only)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Real-time satellite GIS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Multi-language UI beyond Bengali labels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Existing systems &amp; their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9144000" cy="822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Calibri"/>
              </a:defRPr>
            </a:pPr>
            <a:r>
              <a:t>ShelterCluster / HDX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00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UN platforms; aggregate data, no field-level coordination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9144000" cy="822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Calibri"/>
              </a:defRPr>
            </a:pPr>
            <a:r>
              <a:t>BD-DMRG (GoB)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06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Government database; not available offline, limited to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9144000" cy="822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Calibri"/>
              </a:defRPr>
            </a:pPr>
            <a:r>
              <a:t>KoBoToolbox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611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Forms-only; no role-based relief logging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9144000" cy="822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Calibri"/>
              </a:defRPr>
            </a:pPr>
            <a:r>
              <a:t>Sahana FOSS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617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Enterprise-grade but requires server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Gap: No offline-first, role-based field coordination system designed for Bangladesh Union Parishad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Development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Agile (Scrum) over 19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417320" cy="384048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417320" cy="6400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234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MoSCoW prioritization</a:t>
            </a:r>
            <a:br/>
            <a:r>
              <a:t>Sprint planning</a:t>
            </a:r>
            <a:br/>
            <a:r>
              <a:t>Risk 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645920"/>
            <a:ext cx="1417320" cy="384048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1645920"/>
            <a:ext cx="1417320" cy="6400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1691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68880"/>
            <a:ext cx="1234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Requirements gathering</a:t>
            </a:r>
            <a:br/>
            <a:r>
              <a:t>FR/NFR specification</a:t>
            </a:r>
            <a:br/>
            <a:r>
              <a:t>Stakeholder mapping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1417320" cy="384048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645920"/>
            <a:ext cx="1417320" cy="6400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691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68880"/>
            <a:ext cx="1234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DFD, Use Case, Activity</a:t>
            </a:r>
            <a:br/>
            <a:r>
              <a:t>Class, ERD diagrams</a:t>
            </a:r>
            <a:br/>
            <a:r>
              <a:t>UI/UX wireframes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645920"/>
            <a:ext cx="1417320" cy="384048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645920"/>
            <a:ext cx="1417320" cy="6400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1691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468880"/>
            <a:ext cx="1234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+ Vite frontend</a:t>
            </a:r>
            <a:br/>
            <a:r>
              <a:t>Node.js + Express API</a:t>
            </a:r>
            <a:br/>
            <a:r>
              <a:t>MongoDB + Mongoose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645920"/>
            <a:ext cx="1417320" cy="384048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1645920"/>
            <a:ext cx="1417320" cy="6400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691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468880"/>
            <a:ext cx="1234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Unit, Integration, RBAC</a:t>
            </a:r>
            <a:br/>
            <a:r>
              <a:t>Offline sync testing</a:t>
            </a:r>
            <a:br/>
            <a:r>
              <a:t>UAT with 30+ test cases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645920"/>
            <a:ext cx="1417320" cy="384048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645920"/>
            <a:ext cx="1417320" cy="6400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691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468880"/>
            <a:ext cx="1234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PWA deployment</a:t>
            </a:r>
            <a:br/>
            <a:r>
              <a:t>Offline verification</a:t>
            </a:r>
            <a:br/>
            <a:r>
              <a:t>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Requirements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Functional &amp; 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E8C"/>
                </a:solidFill>
                <a:latin typeface="Calibri"/>
              </a:defRPr>
            </a:pPr>
            <a:r>
              <a:t>Functional Requirements (17)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FR-01: User registration &amp; authentication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FR-02: Role-based access control (4 roles)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FR-03: Household registration with GPS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FR-04: Relief distribution logging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FR-05: Duplicate detection &amp; warning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FR-06: Offline data capture &amp; sync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FR-07: Need assessment calculation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FR-08: Public dashboard &amp; heatmap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FR-09: Report export (PDF/CSV)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2"/>
                </a:solidFill>
                <a:latin typeface="Calibri"/>
              </a:defRPr>
            </a:pPr>
            <a:r>
              <a:t>Non-Functional Requirements (8)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NFR-01: Offline-first operation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NFR-02: &lt; 3s dashboard load on 3G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NFR-03: 95%+ sync success rate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NFR-04: 90%+ duplicate detection accuracy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NFR-05: JWT-based stateless auth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NFR-06: Responsive design (mobile/tablet)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NFR-07: Passwords hashed with bcrypt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NFR-08: Role-enforced API routes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Flow Diagram - Context Level (DFD-0)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118872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4E8C"/>
                </a:solidFill>
                <a:latin typeface="Calibri"/>
              </a:defRPr>
            </a:pPr>
            <a:r>
              <a:t>UP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Household registration</a:t>
            </a:r>
            <a:br/>
            <a:r>
              <a:t>Relief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645920"/>
            <a:ext cx="1828800" cy="1188720"/>
          </a:xfrm>
          <a:prstGeom prst="rect">
            <a:avLst/>
          </a:prstGeom>
          <a:solidFill>
            <a:srgbClr val="E8F0FE"/>
          </a:solidFill>
          <a:ln>
            <a:solidFill>
              <a:srgbClr val="0D9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2"/>
                </a:solidFill>
                <a:latin typeface="Calibri"/>
              </a:defRPr>
            </a:pPr>
            <a:r>
              <a:t>Upazila Officer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User mgmt, reports</a:t>
            </a:r>
            <a:br/>
            <a:r>
              <a:t>Dashboard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645920"/>
            <a:ext cx="1828800" cy="1188720"/>
          </a:xfrm>
          <a:prstGeom prst="rect">
            <a:avLst/>
          </a:prstGeom>
          <a:solidFill>
            <a:srgbClr val="E8F0FE"/>
          </a:solidFill>
          <a:ln>
            <a:solidFill>
              <a:srgbClr val="F082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820D"/>
                </a:solidFill>
                <a:latin typeface="Calibri"/>
              </a:defRPr>
            </a:pPr>
            <a:r>
              <a:t>NGO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Distribution logging</a:t>
            </a:r>
            <a:br/>
            <a:r>
              <a:t>Dashboard 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645920"/>
            <a:ext cx="1828800" cy="1188720"/>
          </a:xfrm>
          <a:prstGeom prst="rect">
            <a:avLst/>
          </a:prstGeom>
          <a:solidFill>
            <a:srgbClr val="E8F0FE"/>
          </a:solidFill>
          <a:ln>
            <a:solidFill>
              <a:srgbClr val="059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C69"/>
                </a:solidFill>
                <a:latin typeface="Calibri"/>
              </a:defRPr>
            </a:pPr>
            <a:r>
              <a:t>Public 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Self-registration</a:t>
            </a:r>
            <a:br/>
            <a:r>
              <a:t>Request relief,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645920"/>
            <a:ext cx="1828800" cy="1188720"/>
          </a:xfrm>
          <a:prstGeom prst="rect">
            <a:avLst/>
          </a:prstGeom>
          <a:solidFill>
            <a:srgbClr val="E8F0F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Calibri"/>
              </a:defRPr>
            </a:pPr>
            <a:r>
              <a:t>System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System config</a:t>
            </a:r>
            <a:br/>
            <a:r>
              <a:t>Audit 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474720"/>
            <a:ext cx="4572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5661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RelifMesh</a:t>
            </a:r>
            <a:br/>
            <a:r>
              <a:t>Disaster Relief Coordination System</a:t>
            </a:r>
            <a:br/>
            <a:r>
              <a:t>(PWA)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029200"/>
            <a:ext cx="1371600" cy="731520"/>
          </a:xfrm>
          <a:prstGeom prst="rect">
            <a:avLst/>
          </a:prstGeom>
          <a:solidFill>
            <a:srgbClr val="F5F5F5"/>
          </a:solidFill>
          <a:ln>
            <a:solidFill>
              <a:srgbClr val="0D9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2"/>
                </a:solidFill>
                <a:latin typeface="Calibri"/>
              </a:defRPr>
            </a:pPr>
            <a:r>
              <a:t>D1</a:t>
            </a:r>
            <a:br/>
            <a:r>
              <a:t>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5029200"/>
            <a:ext cx="1371600" cy="731520"/>
          </a:xfrm>
          <a:prstGeom prst="rect">
            <a:avLst/>
          </a:prstGeom>
          <a:solidFill>
            <a:srgbClr val="F5F5F5"/>
          </a:solidFill>
          <a:ln>
            <a:solidFill>
              <a:srgbClr val="0D9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5074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2"/>
                </a:solidFill>
                <a:latin typeface="Calibri"/>
              </a:defRPr>
            </a:pPr>
            <a:r>
              <a:t>D2</a:t>
            </a:r>
            <a:br/>
            <a:r>
              <a:t>Households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5029200"/>
            <a:ext cx="1371600" cy="731520"/>
          </a:xfrm>
          <a:prstGeom prst="rect">
            <a:avLst/>
          </a:prstGeom>
          <a:solidFill>
            <a:srgbClr val="F5F5F5"/>
          </a:solidFill>
          <a:ln>
            <a:solidFill>
              <a:srgbClr val="0D9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5074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2"/>
                </a:solidFill>
                <a:latin typeface="Calibri"/>
              </a:defRPr>
            </a:pPr>
            <a:r>
              <a:t>D3</a:t>
            </a:r>
            <a:br/>
            <a:r>
              <a:t>Distributions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Diagram - Actors &amp;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UP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63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Register households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087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Log distributions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5544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Edit/delete distributions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600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View relief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459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Override duplicates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Upazila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68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Manage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514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View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560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Manage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06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Review relief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6517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Generate reports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1828800" cy="45720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20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NGO 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474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Log distributions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5204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View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5661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View assigned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1828800" cy="45720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26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Public 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4805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Self-register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5262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Submit relief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5720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View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617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Submit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6634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  View public heatmap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Activity, Class &amp; ERD Diagrams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926080" cy="54864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Activity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29260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Relief distribution workflow from</a:t>
            </a:r>
            <a:br/>
            <a:r>
              <a:t>household scan to sync confirmation</a:t>
            </a:r>
            <a:br/>
            <a:r>
              <a:t>Covers offline queue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645920"/>
            <a:ext cx="2926080" cy="54864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Class Diagram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194560"/>
            <a:ext cx="29260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28600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User, Household, DistributionLog,</a:t>
            </a:r>
            <a:br/>
            <a:r>
              <a:t>ReliefRequest, Feedback, Inventory</a:t>
            </a:r>
            <a:br/>
            <a:r>
              <a:t>Shows associations &amp; multiplicities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645920"/>
            <a:ext cx="2926080" cy="54864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ER Diagram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194560"/>
            <a:ext cx="29260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28600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MongoDB document model</a:t>
            </a:r>
            <a:br/>
            <a:r>
              <a:t>Embedded addresses &amp; items</a:t>
            </a:r>
            <a:br/>
            <a:r>
              <a:t>References between collections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MongoDB Document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200400" cy="4114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320040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username, email, password (bcrypt),</a:t>
            </a:r>
            <a:br/>
            <a:r>
              <a:t>role (enum), nid, phone, upazila,</a:t>
            </a:r>
            <a:br/>
            <a:r>
              <a:t>union, organization, createdAt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463040"/>
            <a:ext cx="3200400" cy="4114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4904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Households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874520"/>
            <a:ext cx="320040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920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hh_id, head_name, nid, gps (lat/lng),</a:t>
            </a:r>
            <a:br/>
            <a:r>
              <a:t>photo (base64), family_members[]</a:t>
            </a:r>
            <a:br/>
            <a:r>
              <a:t>(address embedded), createdBy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463040"/>
            <a:ext cx="3200400" cy="4114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4904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DistributionLogs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874520"/>
            <a:ext cx="320040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920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household (ref), items[] ({category,</a:t>
            </a:r>
            <a:br/>
            <a:r>
              <a:t>quantity, unit}), relief_session_id,</a:t>
            </a:r>
            <a:br/>
            <a:r>
              <a:t>location, timestamp, synced,</a:t>
            </a:r>
            <a:br/>
            <a:r>
              <a:t>syncStatus, createdBy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40"/>
            <a:ext cx="3200400" cy="4114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764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ReliefRequests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60520"/>
            <a:ext cx="320040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household (ref), items_needed[],</a:t>
            </a:r>
            <a:br/>
            <a:r>
              <a:t>urgency, status, createdAt,</a:t>
            </a:r>
            <a:br/>
            <a:r>
              <a:t>reviewedBy, reviewedAt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749040"/>
            <a:ext cx="3200400" cy="4114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7764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4160520"/>
            <a:ext cx="320040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4206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citizen (ref), message, rating,</a:t>
            </a:r>
            <a:br/>
            <a:r>
              <a:t>createdAt, respondedBy,</a:t>
            </a:r>
            <a:br/>
            <a:r>
              <a:t>responseText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749040"/>
            <a:ext cx="3200400" cy="4114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7764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Inventory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4160520"/>
            <a:ext cx="320040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2062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item_name, category, total_qty,</a:t>
            </a:r>
            <a:br/>
            <a:r>
              <a:t>available_qty, unit, lastRestocked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Three-Tier + Offline-First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200400" cy="22860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200400" cy="50292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Client Tier (PWA)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18 + Vite</a:t>
            </a:r>
            <a:br/>
            <a:r>
              <a:t>TanStack Query</a:t>
            </a:r>
            <a:br/>
            <a:r>
              <a:t>Zustand (state)</a:t>
            </a:r>
            <a:br/>
            <a:r>
              <a:t>IndexedDB (offline queue)</a:t>
            </a:r>
            <a:br/>
            <a:r>
              <a:t>Leaflet.js (heatmap)</a:t>
            </a:r>
            <a:br/>
            <a:r>
              <a:t>Tailwind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554480"/>
            <a:ext cx="3200400" cy="2286000"/>
          </a:xfrm>
          <a:prstGeom prst="rect">
            <a:avLst/>
          </a:prstGeom>
          <a:solidFill>
            <a:srgbClr val="E8F0FE"/>
          </a:solidFill>
          <a:ln>
            <a:solidFill>
              <a:srgbClr val="0D9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554480"/>
            <a:ext cx="3200400" cy="502920"/>
          </a:xfrm>
          <a:prstGeom prst="rect">
            <a:avLst/>
          </a:prstGeom>
          <a:solidFill>
            <a:srgbClr val="0D9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5819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9456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Node.js + Express.js</a:t>
            </a:r>
            <a:br/>
            <a:r>
              <a:t>JWT Auth Middleware</a:t>
            </a:r>
            <a:br/>
            <a:r>
              <a:t>Joi + Zod Validation</a:t>
            </a:r>
            <a:br/>
            <a:r>
              <a:t>Mongoose ODM</a:t>
            </a:r>
            <a:br/>
            <a:r>
              <a:t>Route Modules</a:t>
            </a:r>
            <a:br/>
            <a:r>
              <a:t>RESTful Endpoints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554480"/>
            <a:ext cx="3200400" cy="2286000"/>
          </a:xfrm>
          <a:prstGeom prst="rect">
            <a:avLst/>
          </a:prstGeom>
          <a:solidFill>
            <a:srgbClr val="E8F0FE"/>
          </a:solidFill>
          <a:ln>
            <a:solidFill>
              <a:srgbClr val="F082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554480"/>
            <a:ext cx="3200400" cy="502920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5819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9456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MongoDB Atlas</a:t>
            </a:r>
            <a:br/>
            <a:r>
              <a:t>Collections:</a:t>
            </a:r>
            <a:br/>
            <a:r>
              <a:t>• Users</a:t>
            </a:r>
            <a:br/>
            <a:r>
              <a:t>• Households</a:t>
            </a:r>
            <a:br/>
            <a:r>
              <a:t>• DistributionLogs</a:t>
            </a:r>
            <a:br/>
            <a:r>
              <a:t>• ReliefRequests</a:t>
            </a:r>
            <a:br/>
            <a:r>
              <a:t>• Feedback</a:t>
            </a:r>
            <a:br/>
            <a:r>
              <a:t>• Inventory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1051560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Offline Sync Flow: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1. Data entered offline -&gt; queued in IndexedDB</a:t>
            </a:r>
            <a:br/>
            <a:r>
              <a:t>2. Background sync triggered on connectivity restored</a:t>
            </a:r>
            <a:br/>
            <a:r>
              <a:t>3. Conflict resolution (server-wins)</a:t>
            </a:r>
            <a:br/>
            <a:r>
              <a:t>4. Queue cleared after successful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663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2"/>
                </a:solidFill>
                <a:latin typeface="Calibri"/>
              </a:defRPr>
            </a:pPr>
            <a:r>
              <a:t>localforage + Service Worker</a:t>
            </a:r>
            <a:br/>
            <a:r>
              <a:t>Offline-first architecture</a:t>
            </a:r>
            <a:br/>
            <a:r>
              <a:t>Resilient to network outages</a:t>
            </a:r>
            <a:br/>
            <a:r>
              <a:t>Prevents data loss in field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920240" cy="50292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192024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18, Vite, TanStack Query,</a:t>
            </a:r>
            <a:br/>
            <a:r>
              <a:t>Zustand, Tailwind CSS, Leaflet.js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645920"/>
            <a:ext cx="1920240" cy="50292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148840"/>
            <a:ext cx="192024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1945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Node.js, Express.js,</a:t>
            </a:r>
            <a:br/>
            <a:r>
              <a:t>JWT, bcrypt, Joi + Zod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645920"/>
            <a:ext cx="1920240" cy="50292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148840"/>
            <a:ext cx="192024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1945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MongoDB + Mongoose ODM</a:t>
            </a:r>
            <a:br/>
            <a:r>
              <a:t>IndexedDB (localforage) for offline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645920"/>
            <a:ext cx="1920240" cy="50292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148840"/>
            <a:ext cx="192024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1945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PWA (Service Worker),</a:t>
            </a:r>
            <a:br/>
            <a:r>
              <a:t>Cloudinary / Base64 images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645920"/>
            <a:ext cx="1920240" cy="50292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148840"/>
            <a:ext cx="192024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1945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Git + GitHub, VS Code,</a:t>
            </a:r>
            <a:br/>
            <a:r>
              <a:t>Postman, Chrome DevTools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383280" cy="457200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Duplicate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3832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Input: new_distribution</a:t>
            </a:r>
            <a:br/>
            <a:r>
              <a:t>+ recent records</a:t>
            </a:r>
            <a:br/>
            <a:r>
              <a:t>Check: same household_id</a:t>
            </a:r>
            <a:br/>
            <a:r>
              <a:t>AND same relief_category</a:t>
            </a:r>
            <a:br/>
            <a:r>
              <a:t>AND delta &lt;= 7 days</a:t>
            </a:r>
            <a:br/>
            <a:r>
              <a:t>Output: flag / allow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554480"/>
            <a:ext cx="3383280" cy="457200"/>
          </a:xfrm>
          <a:prstGeom prst="rect">
            <a:avLst/>
          </a:prstGeom>
          <a:solidFill>
            <a:srgbClr val="0D9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Need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011680"/>
            <a:ext cx="33832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Input: demographics</a:t>
            </a:r>
            <a:br/>
            <a:r>
              <a:t>(adults, children, elderly)</a:t>
            </a:r>
            <a:br/>
            <a:r>
              <a:t>Fetch Sphere-standard rates</a:t>
            </a:r>
            <a:br/>
            <a:r>
              <a:t>Compute food/water/shelter</a:t>
            </a:r>
            <a:br/>
            <a:r>
              <a:t>Multiply: elderly 1.2x</a:t>
            </a:r>
            <a:br/>
            <a:r>
              <a:t>Output: daily needs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554480"/>
            <a:ext cx="338328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Conflict Resolution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011680"/>
            <a:ext cx="33832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Input: local_queue[]</a:t>
            </a:r>
            <a:br/>
            <a:r>
              <a:t>+ server_state[]</a:t>
            </a:r>
            <a:br/>
            <a:r>
              <a:t>Match: relief_session_id</a:t>
            </a:r>
            <a:br/>
            <a:r>
              <a:t>Server-wins if conflict</a:t>
            </a:r>
            <a:br/>
            <a:r>
              <a:t>Flag overrides for review</a:t>
            </a:r>
            <a:br/>
            <a:r>
              <a:t>Output: merged_state[]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0698480" cy="137160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B5C"/>
                </a:solidFill>
                <a:latin typeface="Calibri"/>
              </a:defRPr>
            </a:pPr>
            <a:r>
              <a:t>Results: 100% duplicate detection accuracy | Accurate need computation | All 30+ sync cycles passed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31 test cases across 9 categories -- all passed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2918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TC-01 to TC-04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74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59C69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554480"/>
            <a:ext cx="32918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TC-05 to TC-08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59C69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554480"/>
            <a:ext cx="32918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8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Household Reg.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TC-09 to TC-11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874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59C69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32918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88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TC-12 to TC-15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59C69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743200"/>
            <a:ext cx="32918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2788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Duplicate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TC-16 to TC-19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59C69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2743200"/>
            <a:ext cx="32918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788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Offline 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TC-20 to TC-22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59C69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31920"/>
            <a:ext cx="32918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Need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297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TC-23 to TC-25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59C69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931920"/>
            <a:ext cx="32918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297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TC-26 to TC-28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59C69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931920"/>
            <a:ext cx="3291840" cy="914400"/>
          </a:xfrm>
          <a:prstGeom prst="rect">
            <a:avLst/>
          </a:prstGeom>
          <a:solidFill>
            <a:srgbClr val="E8F0FE"/>
          </a:solidFill>
          <a:ln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8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Calibri"/>
              </a:defRPr>
            </a:pPr>
            <a:r>
              <a:t>Public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4297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TC-29 to TC-31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59C69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93776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E8C"/>
                </a:solidFill>
                <a:latin typeface="Calibri"/>
              </a:defRPr>
            </a:pPr>
            <a:r>
              <a:t>31/31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Test Cases Passed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E8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892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Duplicate Detection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E8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Sync Success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E8C"/>
                </a:solidFill>
                <a:latin typeface="Calibri"/>
              </a:defRPr>
            </a:pPr>
            <a:r>
              <a:t>2.1s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Dashboard Load (3G sim)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E8C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Test Households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Exact-match duplicate detection only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No large photo attachment offline sync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No automated E2E browser tests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No SMS gateway integration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No satellite GIS integration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Single-language UI (English + Bengali labels)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C69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Fuzzy duplicate matching (Levenshtein)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Progressive photo sync (chunked upload)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Playwright / Cypress E2E tests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SMS notifications (Twilio)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Satellite flood data (MODIS/Sentinel)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Full Bengali i18n localization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RelifMesh addresses three coordination problems: unequal distribution, no real-time visibility, and offline unusability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Offline-first PWA architecture ensures operation during network outages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Developed incrementally over 19 milestones with Agile methodology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Validated through 31 passing test cases covering all system aspects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All 7 project objectives met (household registration, duplicate detection, offline sync, public dashboard, RBAC, need assessment, heatmap)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Clear roadmap for future development addresses all known limitations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834640"/>
            <a:ext cx="3657600" cy="54864"/>
          </a:xfrm>
          <a:prstGeom prst="rect">
            <a:avLst/>
          </a:prstGeom>
          <a:solidFill>
            <a:srgbClr val="F08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Calibri"/>
              </a:defRPr>
            </a:pPr>
            <a:r>
              <a:t>RelifMesh - Disaster Relief Coordination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CSE 3208: System Analysis and Design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99"/>
                </a:solidFill>
                <a:latin typeface="Calibri"/>
              </a:defRPr>
            </a:pPr>
            <a:r>
              <a:t>Department of CSE, RMSTU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